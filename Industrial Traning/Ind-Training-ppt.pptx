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98" r:id="rId16"/>
    <p:sldId id="297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4660"/>
  </p:normalViewPr>
  <p:slideViewPr>
    <p:cSldViewPr snapToGrid="0">
      <p:cViewPr varScale="1">
        <p:scale>
          <a:sx n="68" d="100"/>
          <a:sy n="68" d="100"/>
        </p:scale>
        <p:origin x="85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E65FF8D5-8484-3BCF-01A8-FE6B610A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4503286A-2DC7-01B6-7A1B-7954175B15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B7887888-CB00-588F-D2FB-4E912182DB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891882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3F30B65C-76B4-E88D-6F4F-2A6501F32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3EB22B41-B74B-65F9-2075-0990685BF0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043BFD7D-165A-809C-3943-EA02E5EACE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033079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BBEB811A-9C74-2F92-19E3-38590126D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72353DC9-8FE3-DC99-D7FD-C308CE74A8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D008924F-1881-BBE2-A16E-5A987446D4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882066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B5E05FAC-C1B9-280B-BB09-39351CF02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E17F0705-1888-3CE5-9288-C1E1694855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11B0BD14-912F-B6F5-E242-693F616535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450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3DD6E901-DE10-584D-6281-08175CFC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2A2D8296-04FC-B217-091B-C903A35B42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BBD546C1-DAF6-F171-9D4D-CFF65CD721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83707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3FE3AF07-3347-793F-2CA0-073081427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9541A551-3DE9-34BF-BE25-F7193A4F5B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E3B9B45B-5D3F-2EC6-8F74-CF0D546DF2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404557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797F26A9-080E-F120-51F1-8A60A3C4B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0658D4DA-F753-E3E2-1404-DA4FC6C6D9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4C0CECE5-2331-B3A1-7397-291819CD03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96793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22979341-8319-3712-2198-E33FD664F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3BBEA1A0-620D-364B-011E-3FEB9F8AFC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549299F2-EEEC-838C-27C7-53E6E43BC1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66514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EA387362-1F95-8F79-365C-0AAB20975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89B7A98C-6170-9BB6-BF43-32C91D858D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18039FE5-C46E-649F-F883-831C9F4E6C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5371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59E2AD3B-D250-D136-F0E3-941C87CC3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755B9C8D-808D-6ED7-4ADF-B9728B3D73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E3C0952B-070A-CFE8-F201-4B7A378259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51382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6A10B0E1-4A1C-0BEB-2F39-96409C4AF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0486ECED-F72C-0D27-43E7-F8C92A2BCE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7A60617C-9FA3-1AF5-1433-82F6972D66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82530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E050CC62-8E4F-2F25-B052-90B30F770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152B1CE9-E8CA-C8C1-2D4F-11E2FE8A2E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C307850D-8225-5EA4-76E4-092243BC1D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1089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 amt="12000"/>
          </a:blip>
          <a:srcRect/>
          <a:stretch/>
        </p:blipFill>
        <p:spPr>
          <a:xfrm>
            <a:off x="3181350" y="658956"/>
            <a:ext cx="5438775" cy="5265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68050" y="135083"/>
            <a:ext cx="1001901" cy="98886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/>
          <p:nvPr/>
        </p:nvSpPr>
        <p:spPr>
          <a:xfrm flipH="1">
            <a:off x="219075" y="419101"/>
            <a:ext cx="10763967" cy="253318"/>
          </a:xfrm>
          <a:custGeom>
            <a:avLst/>
            <a:gdLst/>
            <a:ahLst/>
            <a:cxnLst/>
            <a:rect l="l" t="t" r="r" b="b"/>
            <a:pathLst>
              <a:path w="10640695" h="120000" extrusionOk="0">
                <a:moveTo>
                  <a:pt x="0" y="0"/>
                </a:moveTo>
                <a:lnTo>
                  <a:pt x="10640290" y="0"/>
                </a:lnTo>
              </a:path>
            </a:pathLst>
          </a:cu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7" name="Google Shape;87;p13"/>
          <p:cNvCxnSpPr/>
          <p:nvPr/>
        </p:nvCxnSpPr>
        <p:spPr>
          <a:xfrm>
            <a:off x="11727668" y="1225362"/>
            <a:ext cx="0" cy="5338271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8" name="Google Shape;88;p13"/>
          <p:cNvSpPr/>
          <p:nvPr/>
        </p:nvSpPr>
        <p:spPr>
          <a:xfrm>
            <a:off x="2076444" y="2505075"/>
            <a:ext cx="80391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1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ACTIVE DIRECTORY ENUMERATION USING EMPIRE</a:t>
            </a:r>
            <a:endParaRPr sz="1050" b="0" i="0" u="sng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3"/>
          <p:cNvSpPr/>
          <p:nvPr/>
        </p:nvSpPr>
        <p:spPr>
          <a:xfrm flipH="1">
            <a:off x="218122" y="573153"/>
            <a:ext cx="115728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MADAN MOHAN MALAVIYA UNIVERSITY OF TECHNOLOGY</a:t>
            </a:r>
            <a:endParaRPr sz="1100" b="0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GORAKHPUR</a:t>
            </a:r>
            <a:endParaRPr sz="3200" b="0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14374" y="4314880"/>
            <a:ext cx="5438774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YOGESH KUMAR PANDEY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Roll no.: 2024073074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M.C.A. 2</a:t>
            </a:r>
            <a:r>
              <a:rPr lang="en-US" sz="24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Year (3</a:t>
            </a:r>
            <a:r>
              <a:rPr lang="en-US" sz="24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rd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Sem)</a:t>
            </a:r>
            <a:endParaRPr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7873325" y="4352925"/>
            <a:ext cx="36330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Supervision By: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Dr. PREETI SINGH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ITCA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/>
          <p:cNvPicPr preferRelativeResize="0"/>
          <p:nvPr/>
        </p:nvPicPr>
        <p:blipFill rotWithShape="1">
          <a:blip r:embed="rId3">
            <a:alphaModFix amt="12000"/>
          </a:blip>
          <a:srcRect/>
          <a:stretch/>
        </p:blipFill>
        <p:spPr>
          <a:xfrm>
            <a:off x="3181350" y="658956"/>
            <a:ext cx="5438775" cy="5265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68050" y="135083"/>
            <a:ext cx="1001901" cy="98886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/>
          <p:nvPr/>
        </p:nvSpPr>
        <p:spPr>
          <a:xfrm flipH="1">
            <a:off x="219075" y="419101"/>
            <a:ext cx="10763967" cy="253318"/>
          </a:xfrm>
          <a:custGeom>
            <a:avLst/>
            <a:gdLst/>
            <a:ahLst/>
            <a:cxnLst/>
            <a:rect l="l" t="t" r="r" b="b"/>
            <a:pathLst>
              <a:path w="10640695" h="120000" extrusionOk="0">
                <a:moveTo>
                  <a:pt x="0" y="0"/>
                </a:moveTo>
                <a:lnTo>
                  <a:pt x="10640290" y="0"/>
                </a:lnTo>
              </a:path>
            </a:pathLst>
          </a:cu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9" name="Google Shape;99;p14"/>
          <p:cNvCxnSpPr/>
          <p:nvPr/>
        </p:nvCxnSpPr>
        <p:spPr>
          <a:xfrm>
            <a:off x="11727668" y="1225362"/>
            <a:ext cx="0" cy="5338271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0" name="Google Shape;100;p14"/>
          <p:cNvSpPr txBox="1">
            <a:spLocks noGrp="1"/>
          </p:cNvSpPr>
          <p:nvPr>
            <p:ph type="title"/>
          </p:nvPr>
        </p:nvSpPr>
        <p:spPr>
          <a:xfrm>
            <a:off x="584405" y="323271"/>
            <a:ext cx="6365035" cy="142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-IN" b="1" spc="-1" dirty="0">
                <a:solidFill>
                  <a:srgbClr val="4472C4">
                    <a:lumMod val="75000"/>
                  </a:srgbClr>
                </a:solidFill>
                <a:cs typeface="Arial"/>
                <a:sym typeface="Arial"/>
              </a:rPr>
              <a:t>CONTENTS</a:t>
            </a:r>
            <a:endParaRPr dirty="0"/>
          </a:p>
        </p:txBody>
      </p:sp>
      <p:sp>
        <p:nvSpPr>
          <p:cNvPr id="101" name="Google Shape;101;p14"/>
          <p:cNvSpPr txBox="1">
            <a:spLocks noGrp="1"/>
          </p:cNvSpPr>
          <p:nvPr>
            <p:ph type="body" idx="1"/>
          </p:nvPr>
        </p:nvSpPr>
        <p:spPr>
          <a:xfrm>
            <a:off x="752662" y="1339812"/>
            <a:ext cx="6934497" cy="5518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6059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400" dirty="0">
                <a:latin typeface="Times New Roman"/>
                <a:cs typeface="Times New Roman"/>
                <a:sym typeface="Times New Roman"/>
              </a:rPr>
              <a:t>Introduction</a:t>
            </a:r>
            <a:endParaRPr sz="2400" dirty="0"/>
          </a:p>
          <a:p>
            <a:pPr marL="228600" lvl="0" indent="-226059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2400" dirty="0"/>
          </a:p>
          <a:p>
            <a:pPr marL="228600" lvl="0" indent="-226059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400" dirty="0">
                <a:latin typeface="Times New Roman"/>
                <a:cs typeface="Times New Roman"/>
                <a:sym typeface="Times New Roman"/>
              </a:rPr>
              <a:t>Learning Objectives</a:t>
            </a:r>
            <a:endParaRPr sz="2400" dirty="0"/>
          </a:p>
          <a:p>
            <a:pPr marL="228600" lvl="0" indent="-226059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400" dirty="0">
                <a:latin typeface="Times New Roman"/>
                <a:cs typeface="Times New Roman"/>
                <a:sym typeface="Times New Roman"/>
              </a:rPr>
              <a:t>Technology/Tools Used</a:t>
            </a:r>
            <a:endParaRPr sz="2400" dirty="0"/>
          </a:p>
          <a:p>
            <a:pPr marL="228600" lvl="0" indent="-226059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About the Attack</a:t>
            </a:r>
          </a:p>
          <a:p>
            <a:pPr marL="228600" lvl="0" indent="-226059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400" dirty="0">
                <a:latin typeface="Times New Roman"/>
                <a:cs typeface="Times New Roman"/>
                <a:sym typeface="Times New Roman"/>
              </a:rPr>
              <a:t>Implementation Overview</a:t>
            </a:r>
            <a:endParaRPr sz="2400" dirty="0"/>
          </a:p>
          <a:p>
            <a:pPr marL="228600" lvl="0" indent="-226059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400" dirty="0">
                <a:latin typeface="Times New Roman"/>
                <a:cs typeface="Times New Roman"/>
                <a:sym typeface="Times New Roman"/>
              </a:rPr>
              <a:t>Key Enumeration Commands</a:t>
            </a:r>
            <a:endParaRPr sz="2400" dirty="0"/>
          </a:p>
          <a:p>
            <a:pPr marL="228600" lvl="0" indent="-226059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400" dirty="0">
                <a:latin typeface="Times New Roman"/>
                <a:cs typeface="Times New Roman"/>
                <a:sym typeface="Times New Roman"/>
              </a:rPr>
              <a:t>Reasons behind the problem</a:t>
            </a:r>
            <a:endParaRPr sz="2400" dirty="0"/>
          </a:p>
          <a:p>
            <a:pPr marL="228600" lvl="0" indent="-226059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Countermeasures</a:t>
            </a:r>
          </a:p>
          <a:p>
            <a:pPr marL="228600" lvl="0" indent="-226059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Workflow Demonstration</a:t>
            </a:r>
          </a:p>
          <a:p>
            <a:pPr marL="228600" lvl="0" indent="-226059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</a:p>
          <a:p>
            <a:pPr marL="228600" lvl="0" indent="-226059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/>
          <p:cNvPicPr preferRelativeResize="0"/>
          <p:nvPr/>
        </p:nvPicPr>
        <p:blipFill rotWithShape="1">
          <a:blip r:embed="rId3">
            <a:alphaModFix amt="12000"/>
          </a:blip>
          <a:srcRect/>
          <a:stretch/>
        </p:blipFill>
        <p:spPr>
          <a:xfrm>
            <a:off x="3181350" y="658956"/>
            <a:ext cx="5438775" cy="5265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68050" y="135083"/>
            <a:ext cx="1001901" cy="98886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/>
          <p:nvPr/>
        </p:nvSpPr>
        <p:spPr>
          <a:xfrm flipH="1">
            <a:off x="219075" y="419101"/>
            <a:ext cx="10763967" cy="253318"/>
          </a:xfrm>
          <a:custGeom>
            <a:avLst/>
            <a:gdLst/>
            <a:ahLst/>
            <a:cxnLst/>
            <a:rect l="l" t="t" r="r" b="b"/>
            <a:pathLst>
              <a:path w="10640695" h="120000" extrusionOk="0">
                <a:moveTo>
                  <a:pt x="0" y="0"/>
                </a:moveTo>
                <a:lnTo>
                  <a:pt x="10640290" y="0"/>
                </a:lnTo>
              </a:path>
            </a:pathLst>
          </a:cu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9" name="Google Shape;109;p15"/>
          <p:cNvCxnSpPr/>
          <p:nvPr/>
        </p:nvCxnSpPr>
        <p:spPr>
          <a:xfrm>
            <a:off x="11727668" y="1225362"/>
            <a:ext cx="0" cy="5338271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" name="PlaceHolder 1">
            <a:extLst>
              <a:ext uri="{FF2B5EF4-FFF2-40B4-BE49-F238E27FC236}">
                <a16:creationId xmlns:a16="http://schemas.microsoft.com/office/drawing/2014/main" id="{0AE707A2-C69D-0811-06A3-3F85628DAAAB}"/>
              </a:ext>
            </a:extLst>
          </p:cNvPr>
          <p:cNvSpPr txBox="1">
            <a:spLocks/>
          </p:cNvSpPr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400" b="1" i="0" u="none" strike="noStrike" kern="0" cap="none" spc="-1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/>
                <a:cs typeface="Arial"/>
                <a:sym typeface="Arial"/>
              </a:rPr>
              <a:t>I</a:t>
            </a:r>
            <a:r>
              <a:rPr kumimoji="0" lang="en-IN" sz="5400" b="1" i="0" u="none" strike="noStrike" kern="0" cap="none" spc="-1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/>
                <a:cs typeface="Arial"/>
                <a:sym typeface="Arial"/>
              </a:rPr>
              <a:t>NTRODUCTION</a:t>
            </a:r>
            <a:endParaRPr kumimoji="0" lang="en-US" sz="5400" b="0" i="0" u="none" strike="noStrike" kern="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Arial"/>
              <a:sym typeface="Arial"/>
            </a:endParaRPr>
          </a:p>
        </p:txBody>
      </p:sp>
      <p:sp>
        <p:nvSpPr>
          <p:cNvPr id="8" name="PlaceHolder 2">
            <a:extLst>
              <a:ext uri="{FF2B5EF4-FFF2-40B4-BE49-F238E27FC236}">
                <a16:creationId xmlns:a16="http://schemas.microsoft.com/office/drawing/2014/main" id="{301C5D00-FF28-C528-97F1-11590572078B}"/>
              </a:ext>
            </a:extLst>
          </p:cNvPr>
          <p:cNvSpPr txBox="1">
            <a:spLocks/>
          </p:cNvSpPr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Active Directory (AD) is crucial for enterprise identity management.</a:t>
            </a: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Often targeted by attackers post-compromise.</a:t>
            </a: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Empire is a post-exploitation framework for simulating attacker behavior.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/>
          <p:cNvPicPr preferRelativeResize="0"/>
          <p:nvPr/>
        </p:nvPicPr>
        <p:blipFill rotWithShape="1">
          <a:blip r:embed="rId3">
            <a:alphaModFix amt="12000"/>
          </a:blip>
          <a:srcRect/>
          <a:stretch/>
        </p:blipFill>
        <p:spPr>
          <a:xfrm>
            <a:off x="3181350" y="658956"/>
            <a:ext cx="5438775" cy="5265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68050" y="135083"/>
            <a:ext cx="1001901" cy="98886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/>
          <p:nvPr/>
        </p:nvSpPr>
        <p:spPr>
          <a:xfrm flipH="1">
            <a:off x="219075" y="419101"/>
            <a:ext cx="10763967" cy="253318"/>
          </a:xfrm>
          <a:custGeom>
            <a:avLst/>
            <a:gdLst/>
            <a:ahLst/>
            <a:cxnLst/>
            <a:rect l="l" t="t" r="r" b="b"/>
            <a:pathLst>
              <a:path w="10640695" h="120000" extrusionOk="0">
                <a:moveTo>
                  <a:pt x="0" y="0"/>
                </a:moveTo>
                <a:lnTo>
                  <a:pt x="10640290" y="0"/>
                </a:lnTo>
              </a:path>
            </a:pathLst>
          </a:cu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9" name="Google Shape;119;p16"/>
          <p:cNvCxnSpPr/>
          <p:nvPr/>
        </p:nvCxnSpPr>
        <p:spPr>
          <a:xfrm>
            <a:off x="11727668" y="1225362"/>
            <a:ext cx="0" cy="5338271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" name="PlaceHolder 1">
            <a:extLst>
              <a:ext uri="{FF2B5EF4-FFF2-40B4-BE49-F238E27FC236}">
                <a16:creationId xmlns:a16="http://schemas.microsoft.com/office/drawing/2014/main" id="{81A16264-522E-7F7B-0E5C-ECD30FC7D0E5}"/>
              </a:ext>
            </a:extLst>
          </p:cNvPr>
          <p:cNvSpPr txBox="1">
            <a:spLocks/>
          </p:cNvSpPr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5400" b="1" i="0" u="none" strike="noStrike" kern="0" cap="none" spc="-1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/>
                <a:cs typeface="Arial"/>
                <a:sym typeface="Arial"/>
              </a:rPr>
              <a:t>PROBLEM STATEMENT</a:t>
            </a:r>
            <a:endParaRPr kumimoji="0" lang="en-US" sz="5400" b="0" i="0" u="none" strike="noStrike" kern="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Arial"/>
              <a:sym typeface="Arial"/>
            </a:endParaRPr>
          </a:p>
        </p:txBody>
      </p:sp>
      <p:sp>
        <p:nvSpPr>
          <p:cNvPr id="8" name="PlaceHolder 2">
            <a:extLst>
              <a:ext uri="{FF2B5EF4-FFF2-40B4-BE49-F238E27FC236}">
                <a16:creationId xmlns:a16="http://schemas.microsoft.com/office/drawing/2014/main" id="{17D345F6-A52A-907F-609A-F73E1D6B4717}"/>
              </a:ext>
            </a:extLst>
          </p:cNvPr>
          <p:cNvSpPr txBox="1">
            <a:spLocks/>
          </p:cNvSpPr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 modern enterprise networks, Active Directory (AD) is a critical component managing authentication, access control, and resource management.</a:t>
            </a: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However, it is often misconfigured or weakly secured, making it a primary target during internal network attacks.</a:t>
            </a: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This project demonstrates how Empire, a post-exploitation tool, can be used to enumerate Active Directory — revealing vulnerabilities and misconfigurations that attackers exploit.</a:t>
            </a:r>
            <a:endParaRPr kumimoji="0" lang="en-US" sz="2800" b="0" i="0" u="none" strike="noStrike" kern="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D05FB9D9-66FE-3E83-DEA0-902928E9E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>
            <a:extLst>
              <a:ext uri="{FF2B5EF4-FFF2-40B4-BE49-F238E27FC236}">
                <a16:creationId xmlns:a16="http://schemas.microsoft.com/office/drawing/2014/main" id="{7DFB04DC-4926-A8D6-0E54-BCC26E18B4F6}"/>
              </a:ext>
            </a:extLst>
          </p:cNvPr>
          <p:cNvPicPr preferRelativeResize="0"/>
          <p:nvPr/>
        </p:nvPicPr>
        <p:blipFill rotWithShape="1">
          <a:blip r:embed="rId3">
            <a:alphaModFix amt="12000"/>
          </a:blip>
          <a:srcRect/>
          <a:stretch/>
        </p:blipFill>
        <p:spPr>
          <a:xfrm>
            <a:off x="3181350" y="658956"/>
            <a:ext cx="5438775" cy="5265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>
            <a:extLst>
              <a:ext uri="{FF2B5EF4-FFF2-40B4-BE49-F238E27FC236}">
                <a16:creationId xmlns:a16="http://schemas.microsoft.com/office/drawing/2014/main" id="{9C8827BE-0B04-B004-B137-FFEFEA1150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68050" y="135083"/>
            <a:ext cx="1001901" cy="98886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>
            <a:extLst>
              <a:ext uri="{FF2B5EF4-FFF2-40B4-BE49-F238E27FC236}">
                <a16:creationId xmlns:a16="http://schemas.microsoft.com/office/drawing/2014/main" id="{B12D07B1-9DDB-914A-FB7D-5445FC96A609}"/>
              </a:ext>
            </a:extLst>
          </p:cNvPr>
          <p:cNvSpPr/>
          <p:nvPr/>
        </p:nvSpPr>
        <p:spPr>
          <a:xfrm flipH="1">
            <a:off x="219075" y="419101"/>
            <a:ext cx="10763967" cy="253318"/>
          </a:xfrm>
          <a:custGeom>
            <a:avLst/>
            <a:gdLst/>
            <a:ahLst/>
            <a:cxnLst/>
            <a:rect l="l" t="t" r="r" b="b"/>
            <a:pathLst>
              <a:path w="10640695" h="120000" extrusionOk="0">
                <a:moveTo>
                  <a:pt x="0" y="0"/>
                </a:moveTo>
                <a:lnTo>
                  <a:pt x="10640290" y="0"/>
                </a:lnTo>
              </a:path>
            </a:pathLst>
          </a:cu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9" name="Google Shape;119;p16">
            <a:extLst>
              <a:ext uri="{FF2B5EF4-FFF2-40B4-BE49-F238E27FC236}">
                <a16:creationId xmlns:a16="http://schemas.microsoft.com/office/drawing/2014/main" id="{FF8FEBB3-5DFB-0D96-2126-EA425BB68248}"/>
              </a:ext>
            </a:extLst>
          </p:cNvPr>
          <p:cNvCxnSpPr/>
          <p:nvPr/>
        </p:nvCxnSpPr>
        <p:spPr>
          <a:xfrm>
            <a:off x="11727668" y="1225362"/>
            <a:ext cx="0" cy="5338271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PlaceHolder 1">
            <a:extLst>
              <a:ext uri="{FF2B5EF4-FFF2-40B4-BE49-F238E27FC236}">
                <a16:creationId xmlns:a16="http://schemas.microsoft.com/office/drawing/2014/main" id="{E80203D7-5382-5B8E-DCF0-B7D3E411D8F6}"/>
              </a:ext>
            </a:extLst>
          </p:cNvPr>
          <p:cNvSpPr txBox="1">
            <a:spLocks/>
          </p:cNvSpPr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400" b="1" i="0" u="none" strike="noStrike" kern="0" cap="none" spc="-1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/>
                <a:cs typeface="Arial"/>
                <a:sym typeface="Arial"/>
              </a:rPr>
              <a:t>L</a:t>
            </a:r>
            <a:r>
              <a:rPr kumimoji="0" lang="en-IN" sz="5400" b="1" i="0" u="none" strike="noStrike" kern="0" cap="none" spc="-1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/>
                <a:cs typeface="Arial"/>
                <a:sym typeface="Arial"/>
              </a:rPr>
              <a:t>EARNING OBJECTIVES</a:t>
            </a:r>
            <a:endParaRPr kumimoji="0" lang="en-US" sz="5400" b="0" i="0" u="none" strike="noStrike" kern="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Arial"/>
              <a:sym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6F4958D8-35FB-3C66-ED34-E94548CC2D41}"/>
              </a:ext>
            </a:extLst>
          </p:cNvPr>
          <p:cNvSpPr txBox="1">
            <a:spLocks/>
          </p:cNvSpPr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Understand AD components and structure.</a:t>
            </a: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Install and use Empire and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PowerView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</a:t>
            </a:r>
            <a:endParaRPr kumimoji="0" lang="en-I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sv-SE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Simulate attacker behavior via agents.</a:t>
            </a:r>
            <a:endParaRPr kumimoji="0" lang="en-I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Enumerate domain users, computers, GPOs, trusts.</a:t>
            </a:r>
            <a:endParaRPr kumimoji="0" lang="en-I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Build custom virtual lab using VirtualBox.</a:t>
            </a:r>
          </a:p>
        </p:txBody>
      </p:sp>
    </p:spTree>
    <p:extLst>
      <p:ext uri="{BB962C8B-B14F-4D97-AF65-F5344CB8AC3E}">
        <p14:creationId xmlns:p14="http://schemas.microsoft.com/office/powerpoint/2010/main" val="1549374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EA4702C7-1909-60F0-CBD3-86CBD763D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>
            <a:extLst>
              <a:ext uri="{FF2B5EF4-FFF2-40B4-BE49-F238E27FC236}">
                <a16:creationId xmlns:a16="http://schemas.microsoft.com/office/drawing/2014/main" id="{864043E7-9DD3-FDB9-6910-90C96F6FBB61}"/>
              </a:ext>
            </a:extLst>
          </p:cNvPr>
          <p:cNvPicPr preferRelativeResize="0"/>
          <p:nvPr/>
        </p:nvPicPr>
        <p:blipFill rotWithShape="1">
          <a:blip r:embed="rId3">
            <a:alphaModFix amt="12000"/>
          </a:blip>
          <a:srcRect/>
          <a:stretch/>
        </p:blipFill>
        <p:spPr>
          <a:xfrm>
            <a:off x="3181350" y="658956"/>
            <a:ext cx="5438775" cy="5265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>
            <a:extLst>
              <a:ext uri="{FF2B5EF4-FFF2-40B4-BE49-F238E27FC236}">
                <a16:creationId xmlns:a16="http://schemas.microsoft.com/office/drawing/2014/main" id="{F840C808-E287-120A-B4BB-09CAF04769E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68050" y="135083"/>
            <a:ext cx="1001901" cy="98886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>
            <a:extLst>
              <a:ext uri="{FF2B5EF4-FFF2-40B4-BE49-F238E27FC236}">
                <a16:creationId xmlns:a16="http://schemas.microsoft.com/office/drawing/2014/main" id="{3CDA4670-E24C-8275-1096-6006453EE932}"/>
              </a:ext>
            </a:extLst>
          </p:cNvPr>
          <p:cNvSpPr/>
          <p:nvPr/>
        </p:nvSpPr>
        <p:spPr>
          <a:xfrm flipH="1">
            <a:off x="219075" y="419101"/>
            <a:ext cx="10763967" cy="253318"/>
          </a:xfrm>
          <a:custGeom>
            <a:avLst/>
            <a:gdLst/>
            <a:ahLst/>
            <a:cxnLst/>
            <a:rect l="l" t="t" r="r" b="b"/>
            <a:pathLst>
              <a:path w="10640695" h="120000" extrusionOk="0">
                <a:moveTo>
                  <a:pt x="0" y="0"/>
                </a:moveTo>
                <a:lnTo>
                  <a:pt x="10640290" y="0"/>
                </a:lnTo>
              </a:path>
            </a:pathLst>
          </a:cu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9" name="Google Shape;119;p16">
            <a:extLst>
              <a:ext uri="{FF2B5EF4-FFF2-40B4-BE49-F238E27FC236}">
                <a16:creationId xmlns:a16="http://schemas.microsoft.com/office/drawing/2014/main" id="{9392AC44-D238-5D95-B7F0-B22AF0EC0607}"/>
              </a:ext>
            </a:extLst>
          </p:cNvPr>
          <p:cNvCxnSpPr/>
          <p:nvPr/>
        </p:nvCxnSpPr>
        <p:spPr>
          <a:xfrm>
            <a:off x="11727668" y="1225362"/>
            <a:ext cx="0" cy="5338271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PlaceHolder 1">
            <a:extLst>
              <a:ext uri="{FF2B5EF4-FFF2-40B4-BE49-F238E27FC236}">
                <a16:creationId xmlns:a16="http://schemas.microsoft.com/office/drawing/2014/main" id="{58DBFF2B-94A6-ED5F-090E-D6EE3E4268D8}"/>
              </a:ext>
            </a:extLst>
          </p:cNvPr>
          <p:cNvSpPr txBox="1">
            <a:spLocks/>
          </p:cNvSpPr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5400" b="1" i="0" u="none" strike="noStrike" kern="0" cap="none" spc="-1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/>
                <a:cs typeface="Arial"/>
                <a:sym typeface="Arial"/>
              </a:rPr>
              <a:t>TECHNOLOGY/TOOLS TO BE USED</a:t>
            </a:r>
            <a:endParaRPr kumimoji="0" lang="en-US" sz="5400" b="0" i="0" u="none" strike="noStrike" kern="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Arial"/>
              <a:sym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3247B082-6E59-C079-6A6A-16A1B5B35745}"/>
              </a:ext>
            </a:extLst>
          </p:cNvPr>
          <p:cNvSpPr txBox="1">
            <a:spLocks/>
          </p:cNvSpPr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Active Directory (Windows Server 2016)</a:t>
            </a: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Kali Linux (attacker machine)</a:t>
            </a: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Empire Framework (post-exploitation &amp; enumeration)</a:t>
            </a: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VirtualBox (Lab hosting environment)</a:t>
            </a: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TryHackMe</a:t>
            </a:r>
            <a:r>
              <a:rPr kumimoji="0" lang="en-I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Lab Environment (for simulation)</a:t>
            </a:r>
            <a:endParaRPr kumimoji="0" lang="en-US" sz="2800" b="0" i="0" u="none" strike="noStrike" kern="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4940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E4F658EA-4132-A75F-392C-2D73DC856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>
            <a:extLst>
              <a:ext uri="{FF2B5EF4-FFF2-40B4-BE49-F238E27FC236}">
                <a16:creationId xmlns:a16="http://schemas.microsoft.com/office/drawing/2014/main" id="{3F62530A-C9DC-9435-176B-01F99AC764A5}"/>
              </a:ext>
            </a:extLst>
          </p:cNvPr>
          <p:cNvPicPr preferRelativeResize="0"/>
          <p:nvPr/>
        </p:nvPicPr>
        <p:blipFill rotWithShape="1">
          <a:blip r:embed="rId3">
            <a:alphaModFix amt="12000"/>
          </a:blip>
          <a:srcRect/>
          <a:stretch/>
        </p:blipFill>
        <p:spPr>
          <a:xfrm>
            <a:off x="3181350" y="658956"/>
            <a:ext cx="5438775" cy="5265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>
            <a:extLst>
              <a:ext uri="{FF2B5EF4-FFF2-40B4-BE49-F238E27FC236}">
                <a16:creationId xmlns:a16="http://schemas.microsoft.com/office/drawing/2014/main" id="{FFCA659A-B9B3-F21B-397B-8C2B4B84511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68050" y="135083"/>
            <a:ext cx="1001901" cy="98886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>
            <a:extLst>
              <a:ext uri="{FF2B5EF4-FFF2-40B4-BE49-F238E27FC236}">
                <a16:creationId xmlns:a16="http://schemas.microsoft.com/office/drawing/2014/main" id="{A4FFB669-9339-2E0B-655B-FA1D92E9E130}"/>
              </a:ext>
            </a:extLst>
          </p:cNvPr>
          <p:cNvSpPr/>
          <p:nvPr/>
        </p:nvSpPr>
        <p:spPr>
          <a:xfrm flipH="1">
            <a:off x="219075" y="419101"/>
            <a:ext cx="10763967" cy="253318"/>
          </a:xfrm>
          <a:custGeom>
            <a:avLst/>
            <a:gdLst/>
            <a:ahLst/>
            <a:cxnLst/>
            <a:rect l="l" t="t" r="r" b="b"/>
            <a:pathLst>
              <a:path w="10640695" h="120000" extrusionOk="0">
                <a:moveTo>
                  <a:pt x="0" y="0"/>
                </a:moveTo>
                <a:lnTo>
                  <a:pt x="10640290" y="0"/>
                </a:lnTo>
              </a:path>
            </a:pathLst>
          </a:cu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9" name="Google Shape;119;p16">
            <a:extLst>
              <a:ext uri="{FF2B5EF4-FFF2-40B4-BE49-F238E27FC236}">
                <a16:creationId xmlns:a16="http://schemas.microsoft.com/office/drawing/2014/main" id="{A185C1C2-D1FF-34B2-FCA4-B4974B9C1EE8}"/>
              </a:ext>
            </a:extLst>
          </p:cNvPr>
          <p:cNvCxnSpPr/>
          <p:nvPr/>
        </p:nvCxnSpPr>
        <p:spPr>
          <a:xfrm>
            <a:off x="11727668" y="1225362"/>
            <a:ext cx="0" cy="5338271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PlaceHolder 1">
            <a:extLst>
              <a:ext uri="{FF2B5EF4-FFF2-40B4-BE49-F238E27FC236}">
                <a16:creationId xmlns:a16="http://schemas.microsoft.com/office/drawing/2014/main" id="{138C1FDD-C4BF-2826-4C76-5F9A9D376DAE}"/>
              </a:ext>
            </a:extLst>
          </p:cNvPr>
          <p:cNvSpPr txBox="1">
            <a:spLocks/>
          </p:cNvSpPr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4400" b="1" i="0" u="none" strike="noStrike" kern="0" cap="none" spc="-1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/>
                <a:cs typeface="Arial"/>
                <a:sym typeface="Arial"/>
              </a:rPr>
              <a:t>ABOUT THE ATTACK</a:t>
            </a:r>
            <a:endParaRPr kumimoji="0" lang="en-US" sz="4400" b="0" i="0" u="none" strike="noStrike" kern="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Arial"/>
              <a:sym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DDCF9F58-886F-8751-0318-B5862C1A49C2}"/>
              </a:ext>
            </a:extLst>
          </p:cNvPr>
          <p:cNvSpPr txBox="1">
            <a:spLocks/>
          </p:cNvSpPr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About AD Enumeration with Empire:</a:t>
            </a: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Active Directory Enumeration is the process of gathering information about users, groups, computers, domain trusts, and policies within an AD environment.</a:t>
            </a: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The Empire framework allows attackers to bypass detection, maintain persistent access, and automate AD data gathering using PowerShell-based agents.</a:t>
            </a: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The aim is to simulate how an attacker escalates privileges post-compromise and to raise awareness about securing internal systems.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2800" b="0" i="0" u="none" strike="noStrike" kern="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9065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CE72AA30-4FA9-1E60-5396-E231700D1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>
            <a:extLst>
              <a:ext uri="{FF2B5EF4-FFF2-40B4-BE49-F238E27FC236}">
                <a16:creationId xmlns:a16="http://schemas.microsoft.com/office/drawing/2014/main" id="{4308B994-984F-51C2-8B06-10B027682D79}"/>
              </a:ext>
            </a:extLst>
          </p:cNvPr>
          <p:cNvPicPr preferRelativeResize="0"/>
          <p:nvPr/>
        </p:nvPicPr>
        <p:blipFill rotWithShape="1">
          <a:blip r:embed="rId3">
            <a:alphaModFix amt="12000"/>
          </a:blip>
          <a:srcRect/>
          <a:stretch/>
        </p:blipFill>
        <p:spPr>
          <a:xfrm>
            <a:off x="3181350" y="658956"/>
            <a:ext cx="5438775" cy="5265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>
            <a:extLst>
              <a:ext uri="{FF2B5EF4-FFF2-40B4-BE49-F238E27FC236}">
                <a16:creationId xmlns:a16="http://schemas.microsoft.com/office/drawing/2014/main" id="{E74AF475-568C-B2F9-163A-3F5C93AEDF3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68050" y="135083"/>
            <a:ext cx="1001901" cy="98886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>
            <a:extLst>
              <a:ext uri="{FF2B5EF4-FFF2-40B4-BE49-F238E27FC236}">
                <a16:creationId xmlns:a16="http://schemas.microsoft.com/office/drawing/2014/main" id="{41031C8F-D698-CAF1-CB93-6F5998C47139}"/>
              </a:ext>
            </a:extLst>
          </p:cNvPr>
          <p:cNvSpPr/>
          <p:nvPr/>
        </p:nvSpPr>
        <p:spPr>
          <a:xfrm flipH="1">
            <a:off x="219075" y="419101"/>
            <a:ext cx="10763967" cy="253318"/>
          </a:xfrm>
          <a:custGeom>
            <a:avLst/>
            <a:gdLst/>
            <a:ahLst/>
            <a:cxnLst/>
            <a:rect l="l" t="t" r="r" b="b"/>
            <a:pathLst>
              <a:path w="10640695" h="120000" extrusionOk="0">
                <a:moveTo>
                  <a:pt x="0" y="0"/>
                </a:moveTo>
                <a:lnTo>
                  <a:pt x="10640290" y="0"/>
                </a:lnTo>
              </a:path>
            </a:pathLst>
          </a:cu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9" name="Google Shape;119;p16">
            <a:extLst>
              <a:ext uri="{FF2B5EF4-FFF2-40B4-BE49-F238E27FC236}">
                <a16:creationId xmlns:a16="http://schemas.microsoft.com/office/drawing/2014/main" id="{7B04DCED-85DE-2082-6A11-A2FAF2D61E6E}"/>
              </a:ext>
            </a:extLst>
          </p:cNvPr>
          <p:cNvCxnSpPr/>
          <p:nvPr/>
        </p:nvCxnSpPr>
        <p:spPr>
          <a:xfrm>
            <a:off x="11727668" y="1225362"/>
            <a:ext cx="0" cy="5338271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PlaceHolder 1">
            <a:extLst>
              <a:ext uri="{FF2B5EF4-FFF2-40B4-BE49-F238E27FC236}">
                <a16:creationId xmlns:a16="http://schemas.microsoft.com/office/drawing/2014/main" id="{13ECEDDD-5DB2-B785-AB4D-B3D58FC7F4B8}"/>
              </a:ext>
            </a:extLst>
          </p:cNvPr>
          <p:cNvSpPr txBox="1">
            <a:spLocks/>
          </p:cNvSpPr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400" b="1" i="0" u="none" strike="noStrike" kern="0" cap="none" spc="-1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/>
                <a:cs typeface="Arial"/>
                <a:sym typeface="Arial"/>
              </a:rPr>
              <a:t>I</a:t>
            </a:r>
            <a:r>
              <a:rPr kumimoji="0" lang="en-IN" sz="5400" b="1" i="0" u="none" strike="noStrike" kern="0" cap="none" spc="-1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/>
                <a:cs typeface="Arial"/>
                <a:sym typeface="Arial"/>
              </a:rPr>
              <a:t>MPLEMENTATION OVERVIEW</a:t>
            </a:r>
            <a:endParaRPr kumimoji="0" lang="en-US" sz="5400" b="0" i="0" u="none" strike="noStrike" kern="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Arial"/>
              <a:sym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A533E821-5B37-276B-3FF7-D2BDDE6C70BE}"/>
              </a:ext>
            </a:extLst>
          </p:cNvPr>
          <p:cNvSpPr txBox="1">
            <a:spLocks/>
          </p:cNvSpPr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Installed Kali Linux and Windows Server 2016 in VirtualBox.</a:t>
            </a: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Promoted Windows Server to Domain Controller.</a:t>
            </a: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Installed Empire on Kali and created listener.</a:t>
            </a: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Generated and ran stager on target.</a:t>
            </a: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Received agent callback and performed enumeration.</a:t>
            </a: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5239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992E6D28-2FAC-9720-0E24-924617C59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>
            <a:extLst>
              <a:ext uri="{FF2B5EF4-FFF2-40B4-BE49-F238E27FC236}">
                <a16:creationId xmlns:a16="http://schemas.microsoft.com/office/drawing/2014/main" id="{87FD624C-CDC9-22B5-C299-0BAFE868965A}"/>
              </a:ext>
            </a:extLst>
          </p:cNvPr>
          <p:cNvPicPr preferRelativeResize="0"/>
          <p:nvPr/>
        </p:nvPicPr>
        <p:blipFill rotWithShape="1">
          <a:blip r:embed="rId3">
            <a:alphaModFix amt="12000"/>
          </a:blip>
          <a:srcRect/>
          <a:stretch/>
        </p:blipFill>
        <p:spPr>
          <a:xfrm>
            <a:off x="3181350" y="658956"/>
            <a:ext cx="5438775" cy="5265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>
            <a:extLst>
              <a:ext uri="{FF2B5EF4-FFF2-40B4-BE49-F238E27FC236}">
                <a16:creationId xmlns:a16="http://schemas.microsoft.com/office/drawing/2014/main" id="{35D53A90-EC5E-4845-30D7-CCE6F234D9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68050" y="135083"/>
            <a:ext cx="1001901" cy="98886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>
            <a:extLst>
              <a:ext uri="{FF2B5EF4-FFF2-40B4-BE49-F238E27FC236}">
                <a16:creationId xmlns:a16="http://schemas.microsoft.com/office/drawing/2014/main" id="{CBA8A834-C50C-28BC-328B-D589AD02DCE3}"/>
              </a:ext>
            </a:extLst>
          </p:cNvPr>
          <p:cNvSpPr/>
          <p:nvPr/>
        </p:nvSpPr>
        <p:spPr>
          <a:xfrm flipH="1">
            <a:off x="219075" y="419101"/>
            <a:ext cx="10763967" cy="253318"/>
          </a:xfrm>
          <a:custGeom>
            <a:avLst/>
            <a:gdLst/>
            <a:ahLst/>
            <a:cxnLst/>
            <a:rect l="l" t="t" r="r" b="b"/>
            <a:pathLst>
              <a:path w="10640695" h="120000" extrusionOk="0">
                <a:moveTo>
                  <a:pt x="0" y="0"/>
                </a:moveTo>
                <a:lnTo>
                  <a:pt x="10640290" y="0"/>
                </a:lnTo>
              </a:path>
            </a:pathLst>
          </a:cu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9" name="Google Shape;119;p16">
            <a:extLst>
              <a:ext uri="{FF2B5EF4-FFF2-40B4-BE49-F238E27FC236}">
                <a16:creationId xmlns:a16="http://schemas.microsoft.com/office/drawing/2014/main" id="{078668EA-C02C-089C-9286-7E9989399393}"/>
              </a:ext>
            </a:extLst>
          </p:cNvPr>
          <p:cNvCxnSpPr/>
          <p:nvPr/>
        </p:nvCxnSpPr>
        <p:spPr>
          <a:xfrm>
            <a:off x="11727668" y="1225362"/>
            <a:ext cx="0" cy="5338271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PlaceHolder 1">
            <a:extLst>
              <a:ext uri="{FF2B5EF4-FFF2-40B4-BE49-F238E27FC236}">
                <a16:creationId xmlns:a16="http://schemas.microsoft.com/office/drawing/2014/main" id="{7173E05F-5AF1-3C4D-11BC-FAE2EC6A6CF5}"/>
              </a:ext>
            </a:extLst>
          </p:cNvPr>
          <p:cNvSpPr txBox="1">
            <a:spLocks/>
          </p:cNvSpPr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400" b="1" i="0" u="none" strike="noStrike" kern="0" cap="none" spc="-1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/>
                <a:cs typeface="Arial"/>
                <a:sym typeface="Arial"/>
              </a:rPr>
              <a:t>KEY ENUMERATION COMMANDS</a:t>
            </a:r>
            <a:endParaRPr kumimoji="0" lang="en-US" sz="5400" b="0" i="0" u="none" strike="noStrike" kern="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Arial"/>
              <a:sym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989E7C4C-1499-F5AF-E78F-0A270DDD5826}"/>
              </a:ext>
            </a:extLst>
          </p:cNvPr>
          <p:cNvSpPr txBox="1">
            <a:spLocks/>
          </p:cNvSpPr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Get Domain Users: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get_user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Get Computers: </a:t>
            </a:r>
            <a:r>
              <a:rPr kumimoji="0" lang="en-I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get_computer</a:t>
            </a:r>
            <a:endParaRPr kumimoji="0" lang="en-I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Get Logged-on Users: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get_loggedon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Enumerate GPOs, OUs, and Trusts via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PowerView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modules.</a:t>
            </a: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7300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99DCC0DE-54DD-0951-1A5A-511F2F955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>
            <a:extLst>
              <a:ext uri="{FF2B5EF4-FFF2-40B4-BE49-F238E27FC236}">
                <a16:creationId xmlns:a16="http://schemas.microsoft.com/office/drawing/2014/main" id="{0E976D12-6DFB-F969-6CA0-4FC00A614CD8}"/>
              </a:ext>
            </a:extLst>
          </p:cNvPr>
          <p:cNvPicPr preferRelativeResize="0"/>
          <p:nvPr/>
        </p:nvPicPr>
        <p:blipFill rotWithShape="1">
          <a:blip r:embed="rId3">
            <a:alphaModFix amt="12000"/>
          </a:blip>
          <a:srcRect/>
          <a:stretch/>
        </p:blipFill>
        <p:spPr>
          <a:xfrm>
            <a:off x="3181350" y="658956"/>
            <a:ext cx="5438775" cy="5265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>
            <a:extLst>
              <a:ext uri="{FF2B5EF4-FFF2-40B4-BE49-F238E27FC236}">
                <a16:creationId xmlns:a16="http://schemas.microsoft.com/office/drawing/2014/main" id="{A35A5A6F-62CD-1B6C-1DB0-132AE24285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68050" y="135083"/>
            <a:ext cx="1001901" cy="98886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>
            <a:extLst>
              <a:ext uri="{FF2B5EF4-FFF2-40B4-BE49-F238E27FC236}">
                <a16:creationId xmlns:a16="http://schemas.microsoft.com/office/drawing/2014/main" id="{036B936D-1CD8-EC79-9100-997022093D87}"/>
              </a:ext>
            </a:extLst>
          </p:cNvPr>
          <p:cNvSpPr/>
          <p:nvPr/>
        </p:nvSpPr>
        <p:spPr>
          <a:xfrm flipH="1">
            <a:off x="219075" y="419101"/>
            <a:ext cx="10763967" cy="253318"/>
          </a:xfrm>
          <a:custGeom>
            <a:avLst/>
            <a:gdLst/>
            <a:ahLst/>
            <a:cxnLst/>
            <a:rect l="l" t="t" r="r" b="b"/>
            <a:pathLst>
              <a:path w="10640695" h="120000" extrusionOk="0">
                <a:moveTo>
                  <a:pt x="0" y="0"/>
                </a:moveTo>
                <a:lnTo>
                  <a:pt x="10640290" y="0"/>
                </a:lnTo>
              </a:path>
            </a:pathLst>
          </a:cu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9" name="Google Shape;119;p16">
            <a:extLst>
              <a:ext uri="{FF2B5EF4-FFF2-40B4-BE49-F238E27FC236}">
                <a16:creationId xmlns:a16="http://schemas.microsoft.com/office/drawing/2014/main" id="{0AD00AD1-F984-657D-FE19-6842891D2D87}"/>
              </a:ext>
            </a:extLst>
          </p:cNvPr>
          <p:cNvCxnSpPr/>
          <p:nvPr/>
        </p:nvCxnSpPr>
        <p:spPr>
          <a:xfrm>
            <a:off x="11727668" y="1225362"/>
            <a:ext cx="0" cy="5338271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PlaceHolder 1">
            <a:extLst>
              <a:ext uri="{FF2B5EF4-FFF2-40B4-BE49-F238E27FC236}">
                <a16:creationId xmlns:a16="http://schemas.microsoft.com/office/drawing/2014/main" id="{34ED39C5-4651-367D-D582-D1B05CADB1D4}"/>
              </a:ext>
            </a:extLst>
          </p:cNvPr>
          <p:cNvSpPr txBox="1">
            <a:spLocks/>
          </p:cNvSpPr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4400" b="1" i="0" u="none" strike="noStrike" kern="0" cap="none" spc="-1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/>
                <a:cs typeface="Arial"/>
                <a:sym typeface="Arial"/>
              </a:rPr>
              <a:t>WHAT ARE THE REASONS BEHIND THE PROBLEM</a:t>
            </a:r>
            <a:endParaRPr kumimoji="0" lang="en-US" sz="4400" b="0" i="0" u="none" strike="noStrike" kern="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Arial"/>
              <a:sym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54C3A8E4-3863-1C67-3168-2EDA80846C71}"/>
              </a:ext>
            </a:extLst>
          </p:cNvPr>
          <p:cNvSpPr txBox="1">
            <a:spLocks/>
          </p:cNvSpPr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Why are AD Attacks Common?</a:t>
            </a: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Weak AD configurations</a:t>
            </a: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Lack of regular auditing &amp; monitoring</a:t>
            </a: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Excessive user privileges (users having more rights than needed)</a:t>
            </a: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No segmentation — attackers can move laterally once inside</a:t>
            </a: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Unpatched vulnerabilities in Windows infrastructure</a:t>
            </a: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User awareness is low (phishing often gives initial access)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2800" b="0" i="0" u="none" strike="noStrike" kern="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9799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193EC6A9-8A86-451B-0BE1-065C56E89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>
            <a:extLst>
              <a:ext uri="{FF2B5EF4-FFF2-40B4-BE49-F238E27FC236}">
                <a16:creationId xmlns:a16="http://schemas.microsoft.com/office/drawing/2014/main" id="{26147074-87FC-184F-82C2-A4F84D395935}"/>
              </a:ext>
            </a:extLst>
          </p:cNvPr>
          <p:cNvPicPr preferRelativeResize="0"/>
          <p:nvPr/>
        </p:nvPicPr>
        <p:blipFill rotWithShape="1">
          <a:blip r:embed="rId3">
            <a:alphaModFix amt="12000"/>
          </a:blip>
          <a:srcRect/>
          <a:stretch/>
        </p:blipFill>
        <p:spPr>
          <a:xfrm>
            <a:off x="3181350" y="658956"/>
            <a:ext cx="5438775" cy="5265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>
            <a:extLst>
              <a:ext uri="{FF2B5EF4-FFF2-40B4-BE49-F238E27FC236}">
                <a16:creationId xmlns:a16="http://schemas.microsoft.com/office/drawing/2014/main" id="{FB0B8CF8-9615-E6B1-50DA-0F5D78E33E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68050" y="135083"/>
            <a:ext cx="1001901" cy="98886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>
            <a:extLst>
              <a:ext uri="{FF2B5EF4-FFF2-40B4-BE49-F238E27FC236}">
                <a16:creationId xmlns:a16="http://schemas.microsoft.com/office/drawing/2014/main" id="{B47CF437-EE6C-340C-4451-5C243799F6B0}"/>
              </a:ext>
            </a:extLst>
          </p:cNvPr>
          <p:cNvSpPr/>
          <p:nvPr/>
        </p:nvSpPr>
        <p:spPr>
          <a:xfrm flipH="1">
            <a:off x="219075" y="419101"/>
            <a:ext cx="10763967" cy="253318"/>
          </a:xfrm>
          <a:custGeom>
            <a:avLst/>
            <a:gdLst/>
            <a:ahLst/>
            <a:cxnLst/>
            <a:rect l="l" t="t" r="r" b="b"/>
            <a:pathLst>
              <a:path w="10640695" h="120000" extrusionOk="0">
                <a:moveTo>
                  <a:pt x="0" y="0"/>
                </a:moveTo>
                <a:lnTo>
                  <a:pt x="10640290" y="0"/>
                </a:lnTo>
              </a:path>
            </a:pathLst>
          </a:cu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9" name="Google Shape;119;p16">
            <a:extLst>
              <a:ext uri="{FF2B5EF4-FFF2-40B4-BE49-F238E27FC236}">
                <a16:creationId xmlns:a16="http://schemas.microsoft.com/office/drawing/2014/main" id="{8C660A42-FBF0-A398-DF37-13706853A533}"/>
              </a:ext>
            </a:extLst>
          </p:cNvPr>
          <p:cNvCxnSpPr/>
          <p:nvPr/>
        </p:nvCxnSpPr>
        <p:spPr>
          <a:xfrm>
            <a:off x="11727668" y="1225362"/>
            <a:ext cx="0" cy="5338271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PlaceHolder 1">
            <a:extLst>
              <a:ext uri="{FF2B5EF4-FFF2-40B4-BE49-F238E27FC236}">
                <a16:creationId xmlns:a16="http://schemas.microsoft.com/office/drawing/2014/main" id="{7125D1D0-2E2B-C07B-782D-9B3380208E9A}"/>
              </a:ext>
            </a:extLst>
          </p:cNvPr>
          <p:cNvSpPr txBox="1">
            <a:spLocks/>
          </p:cNvSpPr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4400" b="1" i="0" u="none" strike="noStrike" kern="0" cap="none" spc="-1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/>
                <a:cs typeface="Arial"/>
                <a:sym typeface="Arial"/>
              </a:rPr>
              <a:t>SUGGEST SOME POSSIBLE SOLUTIONS/COUNTERMEASURES</a:t>
            </a:r>
            <a:endParaRPr kumimoji="0" lang="en-US" sz="4400" b="0" i="0" u="none" strike="noStrike" kern="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Arial"/>
              <a:sym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DDEA18FD-14DA-C3A1-1F85-D8B4F73D2E08}"/>
              </a:ext>
            </a:extLst>
          </p:cNvPr>
          <p:cNvSpPr txBox="1">
            <a:spLocks/>
          </p:cNvSpPr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How to Defend Against AD Enumeration:</a:t>
            </a: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Enforce principle of least privilege</a:t>
            </a: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Regularly rotate and audit credentials</a:t>
            </a: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Monitor with SIEM tools and enable event logging</a:t>
            </a: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Use firewalls and segmentation to limit lateral movement</a:t>
            </a: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Conduct security awareness training</a:t>
            </a: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Disable unused protocols like NetBIOS and SMBv1</a:t>
            </a: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Regularly update and patch all systems</a:t>
            </a:r>
            <a:endParaRPr kumimoji="0" lang="en-US" sz="2800" b="0" i="0" u="none" strike="noStrike" kern="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7970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A9B8634F-6F6A-28A5-DDBA-77A027DDE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>
            <a:extLst>
              <a:ext uri="{FF2B5EF4-FFF2-40B4-BE49-F238E27FC236}">
                <a16:creationId xmlns:a16="http://schemas.microsoft.com/office/drawing/2014/main" id="{86F19B0B-BC70-EB03-EDBC-25C75F6C922F}"/>
              </a:ext>
            </a:extLst>
          </p:cNvPr>
          <p:cNvPicPr preferRelativeResize="0"/>
          <p:nvPr/>
        </p:nvPicPr>
        <p:blipFill rotWithShape="1">
          <a:blip r:embed="rId3">
            <a:alphaModFix amt="12000"/>
          </a:blip>
          <a:srcRect/>
          <a:stretch/>
        </p:blipFill>
        <p:spPr>
          <a:xfrm>
            <a:off x="3181350" y="658956"/>
            <a:ext cx="5438775" cy="5265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>
            <a:extLst>
              <a:ext uri="{FF2B5EF4-FFF2-40B4-BE49-F238E27FC236}">
                <a16:creationId xmlns:a16="http://schemas.microsoft.com/office/drawing/2014/main" id="{067D700F-D445-0F24-1ADF-2572A4532F0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68050" y="135083"/>
            <a:ext cx="1001901" cy="98886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>
            <a:extLst>
              <a:ext uri="{FF2B5EF4-FFF2-40B4-BE49-F238E27FC236}">
                <a16:creationId xmlns:a16="http://schemas.microsoft.com/office/drawing/2014/main" id="{F14B49F8-1EA9-690B-F0DF-C7186B5C8C7B}"/>
              </a:ext>
            </a:extLst>
          </p:cNvPr>
          <p:cNvSpPr/>
          <p:nvPr/>
        </p:nvSpPr>
        <p:spPr>
          <a:xfrm flipH="1">
            <a:off x="219075" y="419101"/>
            <a:ext cx="10763967" cy="253318"/>
          </a:xfrm>
          <a:custGeom>
            <a:avLst/>
            <a:gdLst/>
            <a:ahLst/>
            <a:cxnLst/>
            <a:rect l="l" t="t" r="r" b="b"/>
            <a:pathLst>
              <a:path w="10640695" h="120000" extrusionOk="0">
                <a:moveTo>
                  <a:pt x="0" y="0"/>
                </a:moveTo>
                <a:lnTo>
                  <a:pt x="10640290" y="0"/>
                </a:lnTo>
              </a:path>
            </a:pathLst>
          </a:cu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9" name="Google Shape;119;p16">
            <a:extLst>
              <a:ext uri="{FF2B5EF4-FFF2-40B4-BE49-F238E27FC236}">
                <a16:creationId xmlns:a16="http://schemas.microsoft.com/office/drawing/2014/main" id="{4911C950-B674-C84D-FA18-4BDC8FEF1330}"/>
              </a:ext>
            </a:extLst>
          </p:cNvPr>
          <p:cNvCxnSpPr/>
          <p:nvPr/>
        </p:nvCxnSpPr>
        <p:spPr>
          <a:xfrm>
            <a:off x="11727668" y="1225362"/>
            <a:ext cx="0" cy="5338271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PlaceHolder 1">
            <a:extLst>
              <a:ext uri="{FF2B5EF4-FFF2-40B4-BE49-F238E27FC236}">
                <a16:creationId xmlns:a16="http://schemas.microsoft.com/office/drawing/2014/main" id="{B8E17E6D-4AAD-72DF-91F0-17BAA991E3C5}"/>
              </a:ext>
            </a:extLst>
          </p:cNvPr>
          <p:cNvSpPr txBox="1">
            <a:spLocks/>
          </p:cNvSpPr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4400" b="1" i="0" u="none" strike="noStrike" kern="0" cap="none" spc="-1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/>
                <a:cs typeface="Arial"/>
                <a:sym typeface="Arial"/>
              </a:rPr>
              <a:t>DEMONSTRATION WORKFLOW</a:t>
            </a:r>
            <a:endParaRPr kumimoji="0" lang="en-US" sz="4400" b="0" i="0" u="none" strike="noStrike" kern="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Arial"/>
              <a:sym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B38BCEA1-44FC-9382-6C31-67ECEC37F255}"/>
              </a:ext>
            </a:extLst>
          </p:cNvPr>
          <p:cNvSpPr txBox="1">
            <a:spLocks/>
          </p:cNvSpPr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Empire AD Enumeration Workflow:</a:t>
            </a: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Gain initial access (e.g., via phishing)</a:t>
            </a: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Set up Empire listene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and agent</a:t>
            </a: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Arial"/>
                <a:sym typeface="Arial"/>
              </a:rPr>
              <a:t>Use modules like </a:t>
            </a:r>
            <a:r>
              <a:rPr kumimoji="0" lang="en-US" sz="2800" b="0" i="0" u="none" strike="noStrike" kern="0" cap="none" spc="-1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Arial"/>
                <a:sym typeface="Arial"/>
              </a:rPr>
              <a:t>powerview</a:t>
            </a:r>
            <a:r>
              <a:rPr kumimoji="0" lang="en-US" sz="2800" b="0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Arial"/>
                <a:sym typeface="Arial"/>
              </a:rPr>
              <a:t> to enumerate:</a:t>
            </a:r>
          </a:p>
          <a:p>
            <a:pPr marL="11430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Domain users/groups</a:t>
            </a:r>
          </a:p>
          <a:p>
            <a:pPr marL="11430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Admin accounts</a:t>
            </a:r>
          </a:p>
          <a:p>
            <a:pPr marL="11430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Domain trusts and shares</a:t>
            </a:r>
            <a:endParaRPr kumimoji="0" lang="en-US" sz="2800" b="0" i="0" u="none" strike="noStrike" kern="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326838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51DC4FE5-4F91-19F5-DE35-BAF087C6B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>
            <a:extLst>
              <a:ext uri="{FF2B5EF4-FFF2-40B4-BE49-F238E27FC236}">
                <a16:creationId xmlns:a16="http://schemas.microsoft.com/office/drawing/2014/main" id="{22FEFB96-3ECE-BC35-5F40-58A2A48E3AD7}"/>
              </a:ext>
            </a:extLst>
          </p:cNvPr>
          <p:cNvPicPr preferRelativeResize="0"/>
          <p:nvPr/>
        </p:nvPicPr>
        <p:blipFill rotWithShape="1">
          <a:blip r:embed="rId3">
            <a:alphaModFix amt="12000"/>
          </a:blip>
          <a:srcRect/>
          <a:stretch/>
        </p:blipFill>
        <p:spPr>
          <a:xfrm>
            <a:off x="3181350" y="658956"/>
            <a:ext cx="5438775" cy="5265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>
            <a:extLst>
              <a:ext uri="{FF2B5EF4-FFF2-40B4-BE49-F238E27FC236}">
                <a16:creationId xmlns:a16="http://schemas.microsoft.com/office/drawing/2014/main" id="{99F030FF-9819-7405-9500-99E50453A8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68050" y="135083"/>
            <a:ext cx="1001901" cy="98886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>
            <a:extLst>
              <a:ext uri="{FF2B5EF4-FFF2-40B4-BE49-F238E27FC236}">
                <a16:creationId xmlns:a16="http://schemas.microsoft.com/office/drawing/2014/main" id="{D7FD7399-45F4-969B-4D0B-DD7EBB6BC90F}"/>
              </a:ext>
            </a:extLst>
          </p:cNvPr>
          <p:cNvSpPr/>
          <p:nvPr/>
        </p:nvSpPr>
        <p:spPr>
          <a:xfrm flipH="1">
            <a:off x="219075" y="419101"/>
            <a:ext cx="10763967" cy="253318"/>
          </a:xfrm>
          <a:custGeom>
            <a:avLst/>
            <a:gdLst/>
            <a:ahLst/>
            <a:cxnLst/>
            <a:rect l="l" t="t" r="r" b="b"/>
            <a:pathLst>
              <a:path w="10640695" h="120000" extrusionOk="0">
                <a:moveTo>
                  <a:pt x="0" y="0"/>
                </a:moveTo>
                <a:lnTo>
                  <a:pt x="10640290" y="0"/>
                </a:lnTo>
              </a:path>
            </a:pathLst>
          </a:cu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9" name="Google Shape;119;p16">
            <a:extLst>
              <a:ext uri="{FF2B5EF4-FFF2-40B4-BE49-F238E27FC236}">
                <a16:creationId xmlns:a16="http://schemas.microsoft.com/office/drawing/2014/main" id="{BD7BB5B9-D51D-F202-5A3D-3D3D52AA738B}"/>
              </a:ext>
            </a:extLst>
          </p:cNvPr>
          <p:cNvCxnSpPr/>
          <p:nvPr/>
        </p:nvCxnSpPr>
        <p:spPr>
          <a:xfrm>
            <a:off x="11727668" y="1225362"/>
            <a:ext cx="0" cy="5338271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PlaceHolder 1">
            <a:extLst>
              <a:ext uri="{FF2B5EF4-FFF2-40B4-BE49-F238E27FC236}">
                <a16:creationId xmlns:a16="http://schemas.microsoft.com/office/drawing/2014/main" id="{BBB460C2-FEC8-6E2E-B241-34AC8042C59C}"/>
              </a:ext>
            </a:extLst>
          </p:cNvPr>
          <p:cNvSpPr txBox="1">
            <a:spLocks/>
          </p:cNvSpPr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400" b="1" i="0" u="none" strike="noStrike" kern="0" cap="none" spc="-1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/>
                <a:cs typeface="Arial"/>
                <a:sym typeface="Arial"/>
              </a:rPr>
              <a:t>C</a:t>
            </a:r>
            <a:r>
              <a:rPr kumimoji="0" lang="en-IN" sz="5400" b="1" i="0" u="none" strike="noStrike" kern="0" cap="none" spc="-1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/>
                <a:cs typeface="Arial"/>
                <a:sym typeface="Arial"/>
              </a:rPr>
              <a:t>ONCLUSION</a:t>
            </a:r>
            <a:endParaRPr kumimoji="0" lang="en-US" sz="5400" b="0" i="0" u="none" strike="noStrike" kern="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Arial"/>
              <a:sym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D54010AD-FB15-7780-C786-A34D5A4D44D0}"/>
              </a:ext>
            </a:extLst>
          </p:cNvPr>
          <p:cNvSpPr txBox="1">
            <a:spLocks/>
          </p:cNvSpPr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Empire enables real-world simulation of AD enumeration.</a:t>
            </a: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Gained practical exposure to post-exploitation scenarios.</a:t>
            </a: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Helped bridge gap between theory and practice.</a:t>
            </a:r>
          </a:p>
          <a:p>
            <a:pPr marL="6858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Prepared to detect and defend against AD threats.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3538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2B1BDDAC-57AE-39F2-78EB-8BEA84320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>
            <a:extLst>
              <a:ext uri="{FF2B5EF4-FFF2-40B4-BE49-F238E27FC236}">
                <a16:creationId xmlns:a16="http://schemas.microsoft.com/office/drawing/2014/main" id="{ACD16266-F7BF-BCC5-0FC9-9E3CACAB7E4A}"/>
              </a:ext>
            </a:extLst>
          </p:cNvPr>
          <p:cNvPicPr preferRelativeResize="0"/>
          <p:nvPr/>
        </p:nvPicPr>
        <p:blipFill rotWithShape="1">
          <a:blip r:embed="rId3">
            <a:alphaModFix amt="12000"/>
          </a:blip>
          <a:srcRect/>
          <a:stretch/>
        </p:blipFill>
        <p:spPr>
          <a:xfrm>
            <a:off x="3181350" y="658956"/>
            <a:ext cx="5438775" cy="5265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>
            <a:extLst>
              <a:ext uri="{FF2B5EF4-FFF2-40B4-BE49-F238E27FC236}">
                <a16:creationId xmlns:a16="http://schemas.microsoft.com/office/drawing/2014/main" id="{1143E825-BAF8-594D-AEC4-9B32C5B4DC4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68050" y="135083"/>
            <a:ext cx="1001901" cy="98886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>
            <a:extLst>
              <a:ext uri="{FF2B5EF4-FFF2-40B4-BE49-F238E27FC236}">
                <a16:creationId xmlns:a16="http://schemas.microsoft.com/office/drawing/2014/main" id="{ED526C52-8378-C3E3-B9B7-EF731294AD3E}"/>
              </a:ext>
            </a:extLst>
          </p:cNvPr>
          <p:cNvSpPr/>
          <p:nvPr/>
        </p:nvSpPr>
        <p:spPr>
          <a:xfrm flipH="1">
            <a:off x="219075" y="419101"/>
            <a:ext cx="10763967" cy="253318"/>
          </a:xfrm>
          <a:custGeom>
            <a:avLst/>
            <a:gdLst/>
            <a:ahLst/>
            <a:cxnLst/>
            <a:rect l="l" t="t" r="r" b="b"/>
            <a:pathLst>
              <a:path w="10640695" h="120000" extrusionOk="0">
                <a:moveTo>
                  <a:pt x="0" y="0"/>
                </a:moveTo>
                <a:lnTo>
                  <a:pt x="10640290" y="0"/>
                </a:lnTo>
              </a:path>
            </a:pathLst>
          </a:cu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9" name="Google Shape;119;p16">
            <a:extLst>
              <a:ext uri="{FF2B5EF4-FFF2-40B4-BE49-F238E27FC236}">
                <a16:creationId xmlns:a16="http://schemas.microsoft.com/office/drawing/2014/main" id="{74C4CA4A-8E4A-C622-BE48-37A786E30153}"/>
              </a:ext>
            </a:extLst>
          </p:cNvPr>
          <p:cNvCxnSpPr/>
          <p:nvPr/>
        </p:nvCxnSpPr>
        <p:spPr>
          <a:xfrm>
            <a:off x="11727668" y="1225362"/>
            <a:ext cx="0" cy="5338271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PlaceHolder 1">
            <a:extLst>
              <a:ext uri="{FF2B5EF4-FFF2-40B4-BE49-F238E27FC236}">
                <a16:creationId xmlns:a16="http://schemas.microsoft.com/office/drawing/2014/main" id="{8FC840FA-FC49-CADA-DAB5-64AB4319C633}"/>
              </a:ext>
            </a:extLst>
          </p:cNvPr>
          <p:cNvSpPr txBox="1">
            <a:spLocks/>
          </p:cNvSpPr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-1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/>
                <a:cs typeface="Arial"/>
                <a:sym typeface="Arial"/>
              </a:rPr>
              <a:t>REFERENCES</a:t>
            </a:r>
            <a:endParaRPr kumimoji="0" lang="en-US" sz="4400" b="0" i="0" u="none" strike="noStrike" kern="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Arial"/>
              <a:sym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81DF90DE-1C21-EAE6-0F60-FD9E271C15AF}"/>
              </a:ext>
            </a:extLst>
          </p:cNvPr>
          <p:cNvSpPr txBox="1">
            <a:spLocks/>
          </p:cNvSpPr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Empire GitHub: </a:t>
            </a:r>
            <a:r>
              <a:rPr kumimoji="0" lang="en-IN" sz="2800" b="0" i="1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github.com/BC-SECURITY/Empire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PowerView</a:t>
            </a:r>
            <a:r>
              <a:rPr kumimoji="0" lang="en-I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(</a:t>
            </a:r>
            <a:r>
              <a:rPr kumimoji="0" lang="en-I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PowerSploit</a:t>
            </a:r>
            <a:r>
              <a:rPr kumimoji="0" lang="en-I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): </a:t>
            </a:r>
            <a:r>
              <a:rPr kumimoji="0" lang="en-IN" sz="2800" b="0" i="1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github.com/</a:t>
            </a:r>
            <a:r>
              <a:rPr kumimoji="0" lang="en-IN" sz="2800" b="0" i="1" u="sng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PowerShellMafia</a:t>
            </a:r>
            <a:r>
              <a:rPr kumimoji="0" lang="en-IN" sz="2800" b="0" i="1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/</a:t>
            </a:r>
            <a:r>
              <a:rPr kumimoji="0" lang="en-IN" sz="2800" b="0" i="1" u="sng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PowerSploit</a:t>
            </a:r>
            <a:endParaRPr kumimoji="0" lang="en-IN" sz="2800" b="0" i="1" u="sng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TryHackMe</a:t>
            </a:r>
            <a:r>
              <a:rPr kumimoji="0" lang="en-I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 </a:t>
            </a:r>
            <a:r>
              <a:rPr kumimoji="0" lang="en-IN" sz="2800" b="0" i="1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tryhackme.com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Microsoft Eval </a:t>
            </a:r>
            <a:r>
              <a:rPr kumimoji="0" lang="en-I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Center</a:t>
            </a:r>
            <a:r>
              <a:rPr kumimoji="0" lang="en-I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– Windows Server 2016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Kali Linux: </a:t>
            </a:r>
            <a:r>
              <a:rPr kumimoji="0" lang="en-IN" sz="2800" b="0" i="1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kali.org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548702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8C235C40-D6AC-CFCB-EDF7-29ACD53B5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>
            <a:extLst>
              <a:ext uri="{FF2B5EF4-FFF2-40B4-BE49-F238E27FC236}">
                <a16:creationId xmlns:a16="http://schemas.microsoft.com/office/drawing/2014/main" id="{F3214BC9-50F1-EB07-D99A-C92A1C75EA13}"/>
              </a:ext>
            </a:extLst>
          </p:cNvPr>
          <p:cNvPicPr preferRelativeResize="0"/>
          <p:nvPr/>
        </p:nvPicPr>
        <p:blipFill rotWithShape="1">
          <a:blip r:embed="rId3">
            <a:alphaModFix amt="12000"/>
          </a:blip>
          <a:srcRect/>
          <a:stretch/>
        </p:blipFill>
        <p:spPr>
          <a:xfrm>
            <a:off x="3181350" y="658956"/>
            <a:ext cx="5438775" cy="5265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>
            <a:extLst>
              <a:ext uri="{FF2B5EF4-FFF2-40B4-BE49-F238E27FC236}">
                <a16:creationId xmlns:a16="http://schemas.microsoft.com/office/drawing/2014/main" id="{3E2F2618-7278-A541-E86F-E2B1956BBAD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68050" y="135083"/>
            <a:ext cx="1001901" cy="98886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>
            <a:extLst>
              <a:ext uri="{FF2B5EF4-FFF2-40B4-BE49-F238E27FC236}">
                <a16:creationId xmlns:a16="http://schemas.microsoft.com/office/drawing/2014/main" id="{88A241EF-DEA3-8FB9-8C4C-C7E7B22DAB78}"/>
              </a:ext>
            </a:extLst>
          </p:cNvPr>
          <p:cNvSpPr/>
          <p:nvPr/>
        </p:nvSpPr>
        <p:spPr>
          <a:xfrm flipH="1">
            <a:off x="219075" y="419101"/>
            <a:ext cx="10763967" cy="253318"/>
          </a:xfrm>
          <a:custGeom>
            <a:avLst/>
            <a:gdLst/>
            <a:ahLst/>
            <a:cxnLst/>
            <a:rect l="l" t="t" r="r" b="b"/>
            <a:pathLst>
              <a:path w="10640695" h="120000" extrusionOk="0">
                <a:moveTo>
                  <a:pt x="0" y="0"/>
                </a:moveTo>
                <a:lnTo>
                  <a:pt x="10640290" y="0"/>
                </a:lnTo>
              </a:path>
            </a:pathLst>
          </a:cu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9" name="Google Shape;119;p16">
            <a:extLst>
              <a:ext uri="{FF2B5EF4-FFF2-40B4-BE49-F238E27FC236}">
                <a16:creationId xmlns:a16="http://schemas.microsoft.com/office/drawing/2014/main" id="{1FE5FD69-673C-B463-E787-488AC49EA010}"/>
              </a:ext>
            </a:extLst>
          </p:cNvPr>
          <p:cNvCxnSpPr/>
          <p:nvPr/>
        </p:nvCxnSpPr>
        <p:spPr>
          <a:xfrm>
            <a:off x="11727668" y="1225362"/>
            <a:ext cx="0" cy="5338271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" name="PlaceHolder 1">
            <a:extLst>
              <a:ext uri="{FF2B5EF4-FFF2-40B4-BE49-F238E27FC236}">
                <a16:creationId xmlns:a16="http://schemas.microsoft.com/office/drawing/2014/main" id="{4A2AE9B6-5CFB-377B-15E3-54A3D8268B9D}"/>
              </a:ext>
            </a:extLst>
          </p:cNvPr>
          <p:cNvSpPr txBox="1">
            <a:spLocks/>
          </p:cNvSpPr>
          <p:nvPr/>
        </p:nvSpPr>
        <p:spPr>
          <a:xfrm>
            <a:off x="838080" y="13343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-1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/>
                <a:cs typeface="Arial"/>
                <a:sym typeface="Arial"/>
              </a:rPr>
              <a:t>CERTIFICATE</a:t>
            </a:r>
            <a:endParaRPr kumimoji="0" lang="en-US" sz="4400" b="0" i="0" u="none" strike="noStrike" kern="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B6B5AB-D449-ED13-BEAF-8C267C6723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080" y="1078177"/>
            <a:ext cx="10229967" cy="548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929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B44D09C2-5083-8CC1-73F3-41B51ED1E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>
            <a:extLst>
              <a:ext uri="{FF2B5EF4-FFF2-40B4-BE49-F238E27FC236}">
                <a16:creationId xmlns:a16="http://schemas.microsoft.com/office/drawing/2014/main" id="{D71BC2A5-1213-3637-2CAF-703672AF1167}"/>
              </a:ext>
            </a:extLst>
          </p:cNvPr>
          <p:cNvPicPr preferRelativeResize="0"/>
          <p:nvPr/>
        </p:nvPicPr>
        <p:blipFill rotWithShape="1">
          <a:blip r:embed="rId3">
            <a:alphaModFix amt="12000"/>
          </a:blip>
          <a:srcRect/>
          <a:stretch/>
        </p:blipFill>
        <p:spPr>
          <a:xfrm>
            <a:off x="3181350" y="658956"/>
            <a:ext cx="5438775" cy="5265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>
            <a:extLst>
              <a:ext uri="{FF2B5EF4-FFF2-40B4-BE49-F238E27FC236}">
                <a16:creationId xmlns:a16="http://schemas.microsoft.com/office/drawing/2014/main" id="{B9DA58CB-BFDE-3AFE-F13E-68FF625B9A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68050" y="135083"/>
            <a:ext cx="1001901" cy="98886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>
            <a:extLst>
              <a:ext uri="{FF2B5EF4-FFF2-40B4-BE49-F238E27FC236}">
                <a16:creationId xmlns:a16="http://schemas.microsoft.com/office/drawing/2014/main" id="{89DCBEE4-2EEA-5C4D-2C63-6E7EC56B7EFE}"/>
              </a:ext>
            </a:extLst>
          </p:cNvPr>
          <p:cNvSpPr/>
          <p:nvPr/>
        </p:nvSpPr>
        <p:spPr>
          <a:xfrm flipH="1">
            <a:off x="219075" y="419101"/>
            <a:ext cx="10763967" cy="253318"/>
          </a:xfrm>
          <a:custGeom>
            <a:avLst/>
            <a:gdLst/>
            <a:ahLst/>
            <a:cxnLst/>
            <a:rect l="l" t="t" r="r" b="b"/>
            <a:pathLst>
              <a:path w="10640695" h="120000" extrusionOk="0">
                <a:moveTo>
                  <a:pt x="0" y="0"/>
                </a:moveTo>
                <a:lnTo>
                  <a:pt x="10640290" y="0"/>
                </a:lnTo>
              </a:path>
            </a:pathLst>
          </a:cu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9" name="Google Shape;119;p16">
            <a:extLst>
              <a:ext uri="{FF2B5EF4-FFF2-40B4-BE49-F238E27FC236}">
                <a16:creationId xmlns:a16="http://schemas.microsoft.com/office/drawing/2014/main" id="{94665404-3B48-11B4-D269-7B3D580153F1}"/>
              </a:ext>
            </a:extLst>
          </p:cNvPr>
          <p:cNvCxnSpPr/>
          <p:nvPr/>
        </p:nvCxnSpPr>
        <p:spPr>
          <a:xfrm>
            <a:off x="11727668" y="1225362"/>
            <a:ext cx="0" cy="5338271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" name="PlaceHolder 1">
            <a:extLst>
              <a:ext uri="{FF2B5EF4-FFF2-40B4-BE49-F238E27FC236}">
                <a16:creationId xmlns:a16="http://schemas.microsoft.com/office/drawing/2014/main" id="{A269AE0B-710C-66EF-7F62-43B984F70E2A}"/>
              </a:ext>
            </a:extLst>
          </p:cNvPr>
          <p:cNvSpPr txBox="1">
            <a:spLocks/>
          </p:cNvSpPr>
          <p:nvPr/>
        </p:nvSpPr>
        <p:spPr>
          <a:xfrm>
            <a:off x="838080" y="882000"/>
            <a:ext cx="10515240" cy="52945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0" algn="l"/>
              </a:tabLst>
              <a:defRPr/>
            </a:pPr>
            <a:endParaRPr kumimoji="0" lang="en-US" sz="6000" b="0" i="0" u="none" strike="noStrike" kern="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0" algn="l"/>
              </a:tabLst>
              <a:defRPr/>
            </a:pPr>
            <a:r>
              <a:rPr kumimoji="0" lang="en-IN" sz="7200" b="1" i="0" u="none" strike="noStrike" kern="0" cap="none" spc="-1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Arial"/>
                <a:sym typeface="Arial"/>
              </a:rPr>
              <a:t>THANKYOU</a:t>
            </a:r>
            <a:endParaRPr kumimoji="0" lang="en-US" sz="7200" b="0" i="0" u="none" strike="noStrike" kern="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07788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637</Words>
  <Application>Microsoft Office PowerPoint</Application>
  <PresentationFormat>Widescreen</PresentationFormat>
  <Paragraphs>98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Presentation</vt:lpstr>
      <vt:lpstr>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Yogesh Pandey</cp:lastModifiedBy>
  <cp:revision>54</cp:revision>
  <dcterms:modified xsi:type="dcterms:W3CDTF">2025-10-30T14:00:39Z</dcterms:modified>
</cp:coreProperties>
</file>