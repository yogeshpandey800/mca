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65" r:id="rId6"/>
    <p:sldId id="259" r:id="rId7"/>
    <p:sldId id="266" r:id="rId8"/>
    <p:sldId id="260" r:id="rId9"/>
    <p:sldId id="267" r:id="rId10"/>
    <p:sldId id="268" r:id="rId11"/>
    <p:sldId id="261" r:id="rId12"/>
    <p:sldId id="262" r:id="rId13"/>
    <p:sldId id="263" r:id="rId14"/>
    <p:sldId id="269" r:id="rId15"/>
    <p:sldId id="270" r:id="rId16"/>
    <p:sldId id="264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86D5849-8684-428A-993C-45803F22994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2016ECE-4B9A-42D0-BD5B-64786E15C57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92CF249-90B3-48EE-BDE7-12734A65F67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7A0561E-EED9-4279-835E-BEEF1541582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FDE2619-4D87-4FA8-8944-1628CB17CCD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AEDEFB3-0F95-40E4-9C52-DF58C64AA66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CB04614-8EC5-4E8E-98ED-2C6DA269E2A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098426A-2EBB-4C8A-BBDA-CD32B5D0DAF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E493BE2-D468-483E-869C-1C0B29BD40F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BA0BFFC-73C1-4DEB-A795-6BF06B0D711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3BA42DA-F2BD-4A87-9795-5C212FBD95A1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B1F62A1-0012-4931-A2C8-21C4A9F90687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BF0D791-37AA-4005-9B30-82C7CE62AF5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984A1FF-C2F6-4ADB-90BE-B65375F3E5C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B4BB472-14C5-473B-8E72-3883B651ADE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09CD14C-427C-4772-8A7F-B4A56938315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DFF78F-0B0D-48DC-8DE1-5108E310D1B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92B1B03-B09F-4C67-AC67-53D5FBD3811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C815EA7-756F-4C23-80FF-B32A677CDE5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A6750D5-241B-4A52-9493-B3247EFF5F0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A67C9C0-5ACE-49E6-8428-35C720AB1CC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47C3FDD-A121-4926-9C2B-530E627A98B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A97814F-DA1B-4C6C-A638-3750CE26E53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16AE383-6F63-4610-897F-1DBB41C2CC4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72EEBD-AE27-41EF-97EC-EEBF8BBD2E51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9FB7F3-B916-44C2-9F76-857042E7F469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99120" y="1854000"/>
            <a:ext cx="1112292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0000"/>
          </a:bodyPr>
          <a:lstStyle/>
          <a:p>
            <a:pPr indent="0" algn="ctr" defTabSz="914400">
              <a:lnSpc>
                <a:spcPct val="90000"/>
              </a:lnSpc>
              <a:buNone/>
            </a:pPr>
            <a:br>
              <a:rPr sz="6000"/>
            </a:br>
            <a:r>
              <a:rPr lang="en-IN" sz="6000" b="1" strike="noStrike" spc="-1">
                <a:solidFill>
                  <a:srgbClr val="7030A0"/>
                </a:solidFill>
                <a:latin typeface="Calibri"/>
              </a:rPr>
              <a:t>CYBER GYAN VIRTUAL INTERNSHIP PROGRAM</a:t>
            </a:r>
            <a:br>
              <a:rPr sz="6000"/>
            </a:br>
            <a:r>
              <a:rPr lang="en-IN" sz="6000" b="1" strike="noStrike" spc="-1">
                <a:solidFill>
                  <a:srgbClr val="FF0000"/>
                </a:solidFill>
                <a:latin typeface="Calibri"/>
              </a:rPr>
              <a:t>Centre for Development of Advanced Computing (CDAC), Noida</a:t>
            </a:r>
            <a:br>
              <a:rPr sz="6000"/>
            </a:b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4180" y="3686566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3200" b="1" u="sng" strike="noStrike" spc="-1" dirty="0">
                <a:solidFill>
                  <a:schemeClr val="accent1">
                    <a:lumMod val="75000"/>
                  </a:schemeClr>
                </a:solidFill>
                <a:uFillTx/>
                <a:latin typeface="Calibri"/>
              </a:rPr>
              <a:t>Submitted By:</a:t>
            </a:r>
            <a:endParaRPr lang="en-IN" sz="32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1" strike="noStrike" spc="-1" dirty="0">
                <a:solidFill>
                  <a:srgbClr val="00B050"/>
                </a:solidFill>
                <a:latin typeface="Calibri"/>
              </a:rPr>
              <a:t>Yogesh Kumar Pandey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1" strike="noStrike" spc="-1" dirty="0">
                <a:solidFill>
                  <a:srgbClr val="00B050"/>
                </a:solidFill>
                <a:latin typeface="Calibri"/>
              </a:rPr>
              <a:t>Project Trainee, (</a:t>
            </a:r>
            <a:r>
              <a:rPr lang="en-IN" sz="2800" b="1" spc="-1" dirty="0">
                <a:solidFill>
                  <a:srgbClr val="00B050"/>
                </a:solidFill>
                <a:latin typeface="Calibri"/>
              </a:rPr>
              <a:t>May</a:t>
            </a:r>
            <a:r>
              <a:rPr lang="en-IN" sz="2800" b="1" strike="noStrike" spc="-1" dirty="0">
                <a:solidFill>
                  <a:srgbClr val="00B050"/>
                </a:solidFill>
                <a:latin typeface="Calibri"/>
              </a:rPr>
              <a:t>-June) 2025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838080" y="570240"/>
            <a:ext cx="10515240" cy="560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4800" b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TOPIC NAME</a:t>
            </a: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4800" b="1" spc="-1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  <a:p>
            <a:pPr indent="0" algn="ctr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4000" dirty="0"/>
              <a:t>ACTIVE DIRECTORY ENUMERATION USING EMPIRE</a:t>
            </a:r>
            <a:endParaRPr lang="en-US" sz="4000" b="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1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I</a:t>
            </a:r>
            <a:r>
              <a:rPr lang="en-IN" sz="5400" b="1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NTRODUCTION</a:t>
            </a:r>
            <a:endParaRPr lang="en-US" sz="5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685800" indent="-457200">
              <a:spcBef>
                <a:spcPts val="1417"/>
              </a:spcBef>
            </a:pPr>
            <a:r>
              <a:rPr lang="en-US" dirty="0"/>
              <a:t>Active Directory (AD) is crucial for enterprise identity management.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Often targeted by attackers post-compromise.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Empire is a post-exploitation framework for simulating attacker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9B66-BE1A-3FF6-81D1-00D43C54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>
            <a:extLst>
              <a:ext uri="{FF2B5EF4-FFF2-40B4-BE49-F238E27FC236}">
                <a16:creationId xmlns:a16="http://schemas.microsoft.com/office/drawing/2014/main" id="{329F267D-5BAD-2C0A-F0A1-BDC408C4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5400" b="1" strike="noStrike" spc="-1">
                <a:solidFill>
                  <a:schemeClr val="accent1">
                    <a:lumMod val="75000"/>
                  </a:schemeClr>
                </a:solidFill>
                <a:latin typeface="Calibri"/>
              </a:rPr>
              <a:t>PROBLEM STATEMENT</a:t>
            </a: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>
            <a:extLst>
              <a:ext uri="{FF2B5EF4-FFF2-40B4-BE49-F238E27FC236}">
                <a16:creationId xmlns:a16="http://schemas.microsoft.com/office/drawing/2014/main" id="{8386CB9F-BEEE-A5A3-25D7-1B36BCA21E1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685800" indent="-457200">
              <a:spcBef>
                <a:spcPts val="1417"/>
              </a:spcBef>
            </a:pPr>
            <a:r>
              <a:rPr lang="en-US" dirty="0"/>
              <a:t>In modern enterprise networks, Active Directory (AD) is a critical component managing authentication, access control, and resource management.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However, it is often misconfigured or weakly secured, making it a primary target during internal network attacks.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This project demonstrates how Empire, a post-exploitation tool, can be used to enumerate Active Directory — revealing vulnerabilities and misconfigurations that attackers exploit.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150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1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L</a:t>
            </a:r>
            <a:r>
              <a:rPr lang="en-IN" sz="5400" b="1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EARNING OBJECTIVES</a:t>
            </a:r>
            <a:endParaRPr lang="en-US" sz="5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685800" indent="-457200">
              <a:spcBef>
                <a:spcPts val="1417"/>
              </a:spcBef>
            </a:pPr>
            <a:r>
              <a:rPr lang="en-US" dirty="0"/>
              <a:t>Understand AD components and structure.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Install and use Empire and </a:t>
            </a:r>
            <a:r>
              <a:rPr lang="en-US" dirty="0" err="1"/>
              <a:t>PowerView</a:t>
            </a:r>
            <a:r>
              <a:rPr lang="en-US" dirty="0"/>
              <a:t>.</a:t>
            </a:r>
            <a:endParaRPr lang="en-IN" dirty="0"/>
          </a:p>
          <a:p>
            <a:pPr marL="685800" indent="-457200">
              <a:spcBef>
                <a:spcPts val="1417"/>
              </a:spcBef>
            </a:pPr>
            <a:r>
              <a:rPr lang="sv-SE" dirty="0"/>
              <a:t>Simulate attacker behavior via agents.</a:t>
            </a:r>
            <a:endParaRPr lang="en-IN" dirty="0"/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Enumerate domain users, computers, GPOs, trusts.</a:t>
            </a:r>
            <a:endParaRPr lang="en-IN" dirty="0"/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Build custom virtual lab using VirtualBox.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559F-68AE-EFD5-88A4-AF92EFC0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>
            <a:extLst>
              <a:ext uri="{FF2B5EF4-FFF2-40B4-BE49-F238E27FC236}">
                <a16:creationId xmlns:a16="http://schemas.microsoft.com/office/drawing/2014/main" id="{FDB93F9A-A2E0-DB20-EBE8-4B1A0E493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5400" b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TECHNOLOGY/TOOLS TO BE USED</a:t>
            </a:r>
            <a:endParaRPr lang="en-US" sz="5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>
            <a:extLst>
              <a:ext uri="{FF2B5EF4-FFF2-40B4-BE49-F238E27FC236}">
                <a16:creationId xmlns:a16="http://schemas.microsoft.com/office/drawing/2014/main" id="{ED5FEC23-9C72-EED0-27A7-65B1B744E13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685800" indent="-457200">
              <a:spcBef>
                <a:spcPts val="1417"/>
              </a:spcBef>
            </a:pPr>
            <a:r>
              <a:rPr lang="en-US" dirty="0"/>
              <a:t>Active Directory (Windows Server 2016)</a:t>
            </a:r>
          </a:p>
          <a:p>
            <a:pPr marL="685800" indent="-457200">
              <a:spcBef>
                <a:spcPts val="1417"/>
              </a:spcBef>
            </a:pPr>
            <a:r>
              <a:rPr lang="en-IN" dirty="0"/>
              <a:t>Kali Linux (attacker machine)</a:t>
            </a:r>
          </a:p>
          <a:p>
            <a:pPr marL="685800" indent="-457200">
              <a:spcBef>
                <a:spcPts val="1417"/>
              </a:spcBef>
            </a:pPr>
            <a:r>
              <a:rPr lang="en-IN" dirty="0"/>
              <a:t>Empire Framework (post-exploitation &amp; enumeration)</a:t>
            </a:r>
          </a:p>
          <a:p>
            <a:pPr marL="685800" indent="-457200">
              <a:spcBef>
                <a:spcPts val="1417"/>
              </a:spcBef>
            </a:pPr>
            <a:r>
              <a:rPr lang="en-IN" dirty="0"/>
              <a:t>VirtualBox (Lab hosting environment)</a:t>
            </a:r>
          </a:p>
          <a:p>
            <a:pPr marL="685800" indent="-457200">
              <a:spcBef>
                <a:spcPts val="1417"/>
              </a:spcBef>
            </a:pPr>
            <a:r>
              <a:rPr lang="en-IN" dirty="0" err="1"/>
              <a:t>TryHackMe</a:t>
            </a:r>
            <a:r>
              <a:rPr lang="en-IN" dirty="0"/>
              <a:t> Lab Environment (for simulation)</a:t>
            </a:r>
            <a:endParaRPr lang="en-US" sz="280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075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4400" b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ABOUT THE ATTACK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en-US" dirty="0"/>
              <a:t>About AD Enumeration with Empire: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Active Directory Enumeration is the process of gathering information about users, groups, computers, domain trusts, and policies within an AD environment.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The Empire framework allows attackers to bypass detection, maintain persistent access, and automate AD data gathering using PowerShell-based agents.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The aim is to simulate how an attacker escalates privileges post-compromise and to raise awareness about securing internal systems.</a:t>
            </a:r>
          </a:p>
          <a:p>
            <a:pPr indent="0">
              <a:spcBef>
                <a:spcPts val="1417"/>
              </a:spcBef>
              <a:buNone/>
            </a:pP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5882-F548-4122-1170-2A07B8DD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>
            <a:extLst>
              <a:ext uri="{FF2B5EF4-FFF2-40B4-BE49-F238E27FC236}">
                <a16:creationId xmlns:a16="http://schemas.microsoft.com/office/drawing/2014/main" id="{D83EF4CB-9A7F-6656-F2F6-8E4DE417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1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I</a:t>
            </a:r>
            <a:r>
              <a:rPr lang="en-IN" sz="5400" b="1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MPLEMENTATION OVERVIEW</a:t>
            </a:r>
            <a:endParaRPr lang="en-US" sz="5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>
            <a:extLst>
              <a:ext uri="{FF2B5EF4-FFF2-40B4-BE49-F238E27FC236}">
                <a16:creationId xmlns:a16="http://schemas.microsoft.com/office/drawing/2014/main" id="{343C6D99-BA4D-DF55-5339-F577CF04210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685800" indent="-457200">
              <a:spcBef>
                <a:spcPts val="1417"/>
              </a:spcBef>
            </a:pPr>
            <a:r>
              <a:rPr lang="en-US" dirty="0"/>
              <a:t>Installed Kali Linux and Windows Server 2016 in VirtualBox.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Promoted Windows Server to Domain Controller.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Installed Empire on Kali and created listener.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Generated and ran stager on target.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Received agent callback and performed enumeration.</a:t>
            </a:r>
          </a:p>
          <a:p>
            <a:pPr marL="685800" indent="-457200">
              <a:spcBef>
                <a:spcPts val="1417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207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9CEC9-C7E5-23F0-5FDF-81C33AC4E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>
            <a:extLst>
              <a:ext uri="{FF2B5EF4-FFF2-40B4-BE49-F238E27FC236}">
                <a16:creationId xmlns:a16="http://schemas.microsoft.com/office/drawing/2014/main" id="{31198908-CE69-BC78-155C-24E74954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KEY ENUMERATION COMMANDS</a:t>
            </a:r>
            <a:endParaRPr lang="en-US" sz="5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>
            <a:extLst>
              <a:ext uri="{FF2B5EF4-FFF2-40B4-BE49-F238E27FC236}">
                <a16:creationId xmlns:a16="http://schemas.microsoft.com/office/drawing/2014/main" id="{3E803761-BDD3-D17F-60D0-107D0E1991C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685800" indent="-457200">
              <a:spcBef>
                <a:spcPts val="1417"/>
              </a:spcBef>
            </a:pPr>
            <a:r>
              <a:rPr lang="en-US" dirty="0"/>
              <a:t>Get Domain Users: </a:t>
            </a:r>
            <a:r>
              <a:rPr lang="en-US" dirty="0" err="1"/>
              <a:t>get_user</a:t>
            </a:r>
            <a:endParaRPr lang="en-US" dirty="0"/>
          </a:p>
          <a:p>
            <a:pPr marL="685800" indent="-457200">
              <a:spcBef>
                <a:spcPts val="1417"/>
              </a:spcBef>
            </a:pPr>
            <a:r>
              <a:rPr lang="en-IN" dirty="0"/>
              <a:t>Get Computers: </a:t>
            </a:r>
            <a:r>
              <a:rPr lang="en-IN" dirty="0" err="1"/>
              <a:t>get_computer</a:t>
            </a:r>
            <a:endParaRPr lang="en-IN" dirty="0"/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Get Logged-on Users: </a:t>
            </a:r>
            <a:r>
              <a:rPr lang="en-US" dirty="0" err="1"/>
              <a:t>get_loggedon</a:t>
            </a:r>
            <a:endParaRPr lang="en-US" dirty="0"/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Enumerate GPOs, OUs, and Trusts via </a:t>
            </a:r>
            <a:r>
              <a:rPr lang="en-US" dirty="0" err="1"/>
              <a:t>PowerView</a:t>
            </a:r>
            <a:r>
              <a:rPr lang="en-US" dirty="0"/>
              <a:t> modules.</a:t>
            </a:r>
          </a:p>
          <a:p>
            <a:pPr marL="685800" indent="-457200">
              <a:spcBef>
                <a:spcPts val="1417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81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4400" b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WHAT ARE THE REASONS BEHIND THE PROBLEM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en-US" b="1" dirty="0"/>
              <a:t>Why are AD Attacks Common?</a:t>
            </a:r>
          </a:p>
          <a:p>
            <a:pPr marL="685800" indent="-457200">
              <a:spcBef>
                <a:spcPts val="1417"/>
              </a:spcBef>
            </a:pPr>
            <a:r>
              <a:rPr lang="en-IN" dirty="0"/>
              <a:t>Weak AD configurations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Lack of regular auditing &amp; monitoring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Excessive user privileges (users having more rights than needed)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No segmentation — attackers can move laterally once inside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Unpatched vulnerabilities in Windows infrastructure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User awareness is low (phishing often gives initial access)</a:t>
            </a:r>
          </a:p>
          <a:p>
            <a:pPr indent="0">
              <a:spcBef>
                <a:spcPts val="1417"/>
              </a:spcBef>
              <a:buNone/>
            </a:pP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4400" b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SUGGEST SOME POSSIBLE SOLUTIONS/COUNTERMEASURES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en-US" b="1" dirty="0"/>
              <a:t>How to Defend Against AD Enumeration: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Enforce principle of least privilege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Regularly rotate and audit credentials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Monitor with SIEM tools and enable event logging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Use firewalls and segmentation to limit lateral movement</a:t>
            </a:r>
          </a:p>
          <a:p>
            <a:pPr marL="685800" indent="-457200">
              <a:spcBef>
                <a:spcPts val="1417"/>
              </a:spcBef>
            </a:pPr>
            <a:r>
              <a:rPr lang="en-IN" dirty="0"/>
              <a:t>Conduct security awareness training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Disable unused protocols like NetBIOS and SMBv1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Regularly update and patch all systems</a:t>
            </a:r>
            <a:endParaRPr lang="en-US" sz="280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IN" sz="4400" b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DEMONSTRATION WORKFLOW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en-IN" b="1" dirty="0"/>
              <a:t>Empire AD Enumeration Workflow: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Gain initial access (e.g., via phishing)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Set up Empire listene</a:t>
            </a:r>
            <a:r>
              <a:rPr lang="en-US" b="1" dirty="0"/>
              <a:t>r</a:t>
            </a:r>
            <a:r>
              <a:rPr lang="en-US" dirty="0"/>
              <a:t> and agent</a:t>
            </a:r>
          </a:p>
          <a:p>
            <a:pPr marL="685800" indent="-457200">
              <a:spcBef>
                <a:spcPts val="1417"/>
              </a:spcBef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Use modules like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powerview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 to enumerate:</a:t>
            </a:r>
          </a:p>
          <a:p>
            <a:pPr marL="1143000" lvl="1" indent="-457200">
              <a:spcBef>
                <a:spcPts val="1417"/>
              </a:spcBef>
            </a:pPr>
            <a:r>
              <a:rPr lang="en-IN" dirty="0"/>
              <a:t>Domain users/groups</a:t>
            </a:r>
          </a:p>
          <a:p>
            <a:pPr marL="1143000" lvl="1" indent="-457200">
              <a:spcBef>
                <a:spcPts val="1417"/>
              </a:spcBef>
            </a:pPr>
            <a:r>
              <a:rPr lang="en-IN" dirty="0"/>
              <a:t>Admin accounts</a:t>
            </a:r>
          </a:p>
          <a:p>
            <a:pPr marL="1143000" lvl="1" indent="-457200">
              <a:spcBef>
                <a:spcPts val="1417"/>
              </a:spcBef>
            </a:pPr>
            <a:r>
              <a:rPr lang="en-IN" dirty="0"/>
              <a:t>Domain trusts and shares</a:t>
            </a:r>
            <a:endParaRPr lang="en-US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A794-0DF5-B9EA-8AC7-5F3BF1A2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>
            <a:extLst>
              <a:ext uri="{FF2B5EF4-FFF2-40B4-BE49-F238E27FC236}">
                <a16:creationId xmlns:a16="http://schemas.microsoft.com/office/drawing/2014/main" id="{8DDD0312-2724-F45A-6AB2-AC1CB4AD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b="1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C</a:t>
            </a:r>
            <a:r>
              <a:rPr lang="en-IN" b="1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ONCLUSION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>
            <a:extLst>
              <a:ext uri="{FF2B5EF4-FFF2-40B4-BE49-F238E27FC236}">
                <a16:creationId xmlns:a16="http://schemas.microsoft.com/office/drawing/2014/main" id="{DF377737-009F-7DFD-C360-D8CF2ADB83E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685800" indent="-457200">
              <a:spcBef>
                <a:spcPts val="1417"/>
              </a:spcBef>
            </a:pPr>
            <a:r>
              <a:rPr lang="en-US" dirty="0"/>
              <a:t>Empire enables real-world simulation of AD enumeration.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Gained practical exposure to post-exploitation scenarios.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Helped bridge gap between theory and practice.</a:t>
            </a:r>
          </a:p>
          <a:p>
            <a:pPr marL="685800" indent="-457200">
              <a:spcBef>
                <a:spcPts val="1417"/>
              </a:spcBef>
            </a:pPr>
            <a:r>
              <a:rPr lang="en-US" dirty="0"/>
              <a:t>Prepared to detect and defend against AD threats.</a:t>
            </a:r>
          </a:p>
          <a:p>
            <a:pPr indent="0">
              <a:spcBef>
                <a:spcPts val="141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109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2C40-6251-D134-6E54-0308F5D3E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>
            <a:extLst>
              <a:ext uri="{FF2B5EF4-FFF2-40B4-BE49-F238E27FC236}">
                <a16:creationId xmlns:a16="http://schemas.microsoft.com/office/drawing/2014/main" id="{02C9C355-554A-2873-06FB-E2ACD0773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4400" b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REFERENCES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>
            <a:extLst>
              <a:ext uri="{FF2B5EF4-FFF2-40B4-BE49-F238E27FC236}">
                <a16:creationId xmlns:a16="http://schemas.microsoft.com/office/drawing/2014/main" id="{79477561-87FD-3E33-2E2D-C3806100C4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IN" dirty="0"/>
              <a:t>Empire GitHub: github.com/BC-SECURITY/Empire</a:t>
            </a:r>
          </a:p>
          <a:p>
            <a:r>
              <a:rPr lang="en-IN" dirty="0" err="1"/>
              <a:t>PowerView</a:t>
            </a:r>
            <a:r>
              <a:rPr lang="en-IN" dirty="0"/>
              <a:t> (</a:t>
            </a:r>
            <a:r>
              <a:rPr lang="en-IN" dirty="0" err="1"/>
              <a:t>PowerSploit</a:t>
            </a:r>
            <a:r>
              <a:rPr lang="en-IN" dirty="0"/>
              <a:t>): github.com/</a:t>
            </a:r>
            <a:r>
              <a:rPr lang="en-IN" dirty="0" err="1"/>
              <a:t>PowerShellMafia</a:t>
            </a:r>
            <a:r>
              <a:rPr lang="en-IN" dirty="0"/>
              <a:t>/</a:t>
            </a:r>
            <a:r>
              <a:rPr lang="en-IN" dirty="0" err="1"/>
              <a:t>PowerSploit</a:t>
            </a:r>
            <a:endParaRPr lang="en-IN" dirty="0"/>
          </a:p>
          <a:p>
            <a:r>
              <a:rPr lang="en-IN" dirty="0" err="1"/>
              <a:t>TryHackMe</a:t>
            </a:r>
            <a:r>
              <a:rPr lang="en-IN" dirty="0"/>
              <a:t>: tryhackme.com</a:t>
            </a:r>
          </a:p>
          <a:p>
            <a:r>
              <a:rPr lang="en-IN" dirty="0"/>
              <a:t>Microsoft Eval </a:t>
            </a:r>
            <a:r>
              <a:rPr lang="en-IN" dirty="0" err="1"/>
              <a:t>Center</a:t>
            </a:r>
            <a:r>
              <a:rPr lang="en-IN" dirty="0"/>
              <a:t> – Windows Server 2016</a:t>
            </a:r>
          </a:p>
          <a:p>
            <a:r>
              <a:rPr lang="en-IN" dirty="0"/>
              <a:t>Kali Linux: kali.org</a:t>
            </a:r>
          </a:p>
          <a:p>
            <a:pPr indent="0">
              <a:spcBef>
                <a:spcPts val="141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44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838080" y="882000"/>
            <a:ext cx="10515240" cy="5294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60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7200" b="1" strike="noStrike" spc="-1" dirty="0">
                <a:solidFill>
                  <a:srgbClr val="FF0000"/>
                </a:solidFill>
                <a:latin typeface="Calibri"/>
              </a:rPr>
              <a:t>THANKYOU</a:t>
            </a:r>
            <a:endParaRPr lang="en-US" sz="7200" b="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601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 CYBER GYAN VIRTUAL INTERNSHIP PROGRAM Centre for Development of Advanced Computing (CDAC), Noida </vt:lpstr>
      <vt:lpstr>PowerPoint Presentation</vt:lpstr>
      <vt:lpstr>INTRODUCTION</vt:lpstr>
      <vt:lpstr>PROBLEM STATEMENT</vt:lpstr>
      <vt:lpstr>LEARNING OBJECTIVES</vt:lpstr>
      <vt:lpstr>TECHNOLOGY/TOOLS TO BE USED</vt:lpstr>
      <vt:lpstr>ABOUT THE ATTACK</vt:lpstr>
      <vt:lpstr>IMPLEMENTATION OVERVIEW</vt:lpstr>
      <vt:lpstr>KEY ENUMERATION COMMANDS</vt:lpstr>
      <vt:lpstr>WHAT ARE THE REASONS BEHIND THE PROBLEM</vt:lpstr>
      <vt:lpstr>SUGGEST SOME POSSIBLE SOLUTIONS/COUNTERMEASURES</vt:lpstr>
      <vt:lpstr>DEMONSTRATION WORKFLOW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GYAN VIRTUAL INTERNSHIP PROGRAM CDAC, Noida</dc:title>
  <dc:subject/>
  <dc:creator>Kajal Kashyap</dc:creator>
  <dc:description/>
  <cp:lastModifiedBy>Yogesh Pandey</cp:lastModifiedBy>
  <cp:revision>15</cp:revision>
  <dcterms:created xsi:type="dcterms:W3CDTF">2024-06-18T09:23:29Z</dcterms:created>
  <dcterms:modified xsi:type="dcterms:W3CDTF">2025-06-29T12:58:58Z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